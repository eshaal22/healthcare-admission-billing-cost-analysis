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34B4AC-BAA1-4D53-BDB9-1822A8C5A9D9}" type="datetimeFigureOut">
              <a:rPr lang="en-US" smtClean="0"/>
              <a:t>9/12/2026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9FC43C-4817-4E3E-961F-8EA9D3074CAF}" type="slidenum">
              <a:rPr lang="en-US" smtClean="0"/>
              <a:t>‹#›</a:t>
            </a:fld>
            <a:endParaRPr lang="en-US"/>
          </a:p>
        </p:txBody>
      </p:sp>
    </p:spTree>
    <p:extLst>
      <p:ext uri="{BB962C8B-B14F-4D97-AF65-F5344CB8AC3E}">
        <p14:creationId xmlns:p14="http://schemas.microsoft.com/office/powerpoint/2010/main" val="39028353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9FC43C-4817-4E3E-961F-8EA9D3074CAF}" type="slidenum">
              <a:rPr lang="en-US" smtClean="0"/>
              <a:t>10</a:t>
            </a:fld>
            <a:endParaRPr lang="en-US"/>
          </a:p>
        </p:txBody>
      </p:sp>
    </p:spTree>
    <p:extLst>
      <p:ext uri="{BB962C8B-B14F-4D97-AF65-F5344CB8AC3E}">
        <p14:creationId xmlns:p14="http://schemas.microsoft.com/office/powerpoint/2010/main" val="6016673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15.png"/><Relationship Id="rId5" Type="http://schemas.openxmlformats.org/officeDocument/2006/relationships/image" Target="../media/image10.png"/><Relationship Id="rId10" Type="http://schemas.openxmlformats.org/officeDocument/2006/relationships/image" Target="../media/image14.png"/><Relationship Id="rId4" Type="http://schemas.openxmlformats.org/officeDocument/2006/relationships/image" Target="../media/image9.pn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6.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21.png"/></Relationships>
</file>

<file path=ppt/slides/_rels/slide5.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3" Type="http://schemas.openxmlformats.org/officeDocument/2006/relationships/image" Target="../media/image22.png"/><Relationship Id="rId7" Type="http://schemas.openxmlformats.org/officeDocument/2006/relationships/image" Target="../media/image25.png"/><Relationship Id="rId12"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5.png"/><Relationship Id="rId10" Type="http://schemas.openxmlformats.org/officeDocument/2006/relationships/image" Target="../media/image28.png"/><Relationship Id="rId4" Type="http://schemas.openxmlformats.org/officeDocument/2006/relationships/image" Target="../media/image23.png"/><Relationship Id="rId9" Type="http://schemas.openxmlformats.org/officeDocument/2006/relationships/image" Target="../media/image27.png"/><Relationship Id="rId14" Type="http://schemas.openxmlformats.org/officeDocument/2006/relationships/image" Target="../media/image32.png"/></Relationships>
</file>

<file path=ppt/slides/_rels/slide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0.png"/><Relationship Id="rId4" Type="http://schemas.openxmlformats.org/officeDocument/2006/relationships/image" Target="../media/image39.png"/></Relationships>
</file>

<file path=ppt/slides/_rels/slide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3.png"/><Relationship Id="rId4" Type="http://schemas.openxmlformats.org/officeDocument/2006/relationships/image" Target="../media/image42.png"/></Relationships>
</file>

<file path=ppt/slides/_rels/slide1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6.png"/><Relationship Id="rId4" Type="http://schemas.openxmlformats.org/officeDocument/2006/relationships/image" Target="../media/image45.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13.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50.png"/><Relationship Id="rId7" Type="http://schemas.openxmlformats.org/officeDocument/2006/relationships/image" Target="../media/image5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52.png"/><Relationship Id="rId10" Type="http://schemas.openxmlformats.org/officeDocument/2006/relationships/image" Target="../media/image56.png"/><Relationship Id="rId4" Type="http://schemas.openxmlformats.org/officeDocument/2006/relationships/image" Target="../media/image51.png"/><Relationship Id="rId9" Type="http://schemas.openxmlformats.org/officeDocument/2006/relationships/image" Target="../media/image55.png"/></Relationships>
</file>

<file path=ppt/slides/_rels/slide14.xml.rels><?xml version="1.0" encoding="UTF-8" standalone="yes"?>
<Relationships xmlns="http://schemas.openxmlformats.org/package/2006/relationships"><Relationship Id="rId3" Type="http://schemas.openxmlformats.org/officeDocument/2006/relationships/image" Target="../media/image57.png"/><Relationship Id="rId7" Type="http://schemas.openxmlformats.org/officeDocument/2006/relationships/image" Target="../media/image6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9.png"/><Relationship Id="rId5" Type="http://schemas.openxmlformats.org/officeDocument/2006/relationships/image" Target="../media/image5.png"/><Relationship Id="rId4" Type="http://schemas.openxmlformats.org/officeDocument/2006/relationships/image" Target="../media/image58.png"/></Relationships>
</file>

<file path=ppt/slides/_rels/slide1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4552354"/>
            <a:ext cx="4867275" cy="476250"/>
          </a:xfrm>
          <a:prstGeom prst="rect">
            <a:avLst/>
          </a:prstGeom>
        </p:spPr>
      </p:pic>
      <p:sp>
        <p:nvSpPr>
          <p:cNvPr id="4" name="Rounded Rectangle 3"/>
          <p:cNvSpPr/>
          <p:nvPr/>
        </p:nvSpPr>
        <p:spPr>
          <a:xfrm>
            <a:off x="3429000" y="762000"/>
            <a:ext cx="5334000" cy="5334000"/>
          </a:xfrm>
          <a:prstGeom prst="roundRect">
            <a:avLst>
              <a:gd name="adj" fmla="val 625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810625" y="1028700"/>
            <a:ext cx="1714500" cy="1714500"/>
          </a:xfrm>
          <a:prstGeom prst="roundRect">
            <a:avLst>
              <a:gd name="adj" fmla="val 50000"/>
            </a:avLst>
          </a:prstGeom>
          <a:noFill/>
          <a:ln w="381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946355" y="4799634"/>
            <a:ext cx="1347038" cy="1347038"/>
          </a:xfrm>
          <a:prstGeom prst="roundRect">
            <a:avLst>
              <a:gd name="adj" fmla="val 1697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23875" y="1829395"/>
            <a:ext cx="4181475" cy="190500"/>
          </a:xfrm>
          <a:prstGeom prst="rect">
            <a:avLst/>
          </a:prstGeom>
          <a:noFill/>
        </p:spPr>
        <p:txBody>
          <a:bodyPr wrap="square" lIns="0" tIns="0" rIns="0" bIns="0" anchor="t">
            <a:spAutoFit/>
          </a:bodyPr>
          <a:lstStyle/>
          <a:p>
            <a:pPr algn="l"/>
            <a:r>
              <a:rPr sz="1275" b="1" i="0" u="none">
                <a:solidFill>
                  <a:srgbClr val="0EA5E9"/>
                </a:solidFill>
                <a:latin typeface="Inter"/>
              </a:rPr>
              <a:t>AURATTECH DATA ANALYST TRACK PROJECT</a:t>
            </a:r>
          </a:p>
        </p:txBody>
      </p:sp>
      <p:sp>
        <p:nvSpPr>
          <p:cNvPr id="8" name="TextBox 7"/>
          <p:cNvSpPr txBox="1"/>
          <p:nvPr/>
        </p:nvSpPr>
        <p:spPr>
          <a:xfrm>
            <a:off x="523875" y="2134195"/>
            <a:ext cx="9001125" cy="1322784"/>
          </a:xfrm>
          <a:prstGeom prst="rect">
            <a:avLst/>
          </a:prstGeom>
          <a:noFill/>
        </p:spPr>
        <p:txBody>
          <a:bodyPr wrap="square" lIns="0" tIns="0" rIns="0" bIns="0" anchor="t">
            <a:spAutoFit/>
          </a:bodyPr>
          <a:lstStyle/>
          <a:p>
            <a:pPr algn="l">
              <a:lnSpc>
                <a:spcPts val="5208"/>
              </a:lnSpc>
            </a:pPr>
            <a:r>
              <a:rPr sz="4650" b="1" i="0" u="none">
                <a:solidFill>
                  <a:srgbClr val="0F172A"/>
                </a:solidFill>
                <a:latin typeface="Plus Jakarta Sans"/>
              </a:rPr>
              <a:t>Healthcare Admission &amp; Billing Cost Analysis</a:t>
            </a:r>
          </a:p>
        </p:txBody>
      </p:sp>
      <p:sp>
        <p:nvSpPr>
          <p:cNvPr id="9" name="TextBox 8"/>
          <p:cNvSpPr txBox="1"/>
          <p:nvPr/>
        </p:nvSpPr>
        <p:spPr>
          <a:xfrm>
            <a:off x="523875" y="3628429"/>
            <a:ext cx="8001000" cy="657225"/>
          </a:xfrm>
          <a:prstGeom prst="rect">
            <a:avLst/>
          </a:prstGeom>
          <a:noFill/>
        </p:spPr>
        <p:txBody>
          <a:bodyPr wrap="square" lIns="0" tIns="0" rIns="0" bIns="0" anchor="t">
            <a:spAutoFit/>
          </a:bodyPr>
          <a:lstStyle/>
          <a:p>
            <a:pPr algn="l">
              <a:lnSpc>
                <a:spcPts val="2587"/>
              </a:lnSpc>
            </a:pPr>
            <a:r>
              <a:rPr sz="1725" b="0" i="0" u="none" dirty="0">
                <a:solidFill>
                  <a:srgbClr val="334155"/>
                </a:solidFill>
                <a:latin typeface="Inter"/>
              </a:rPr>
              <a:t>Examining patient admission patterns and billing costs to identify drivers of high-cost care across healthcare networks.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1066800"/>
            <a:ext cx="5429250" cy="3098155"/>
          </a:xfrm>
          <a:prstGeom prst="rect">
            <a:avLst/>
          </a:prstGeom>
        </p:spPr>
      </p:pic>
      <p:pic>
        <p:nvPicPr>
          <p:cNvPr id="4" name="Picture 3" descr="image.png"/>
          <p:cNvPicPr>
            <a:picLocks noChangeAspect="1"/>
          </p:cNvPicPr>
          <p:nvPr/>
        </p:nvPicPr>
        <p:blipFill>
          <a:blip r:embed="rId4"/>
          <a:stretch>
            <a:fillRect/>
          </a:stretch>
        </p:blipFill>
        <p:spPr>
          <a:xfrm>
            <a:off x="6238875" y="1066800"/>
            <a:ext cx="5429250" cy="3098155"/>
          </a:xfrm>
          <a:prstGeom prst="rect">
            <a:avLst/>
          </a:prstGeom>
        </p:spPr>
      </p:pic>
      <p:pic>
        <p:nvPicPr>
          <p:cNvPr id="5" name="Picture 4" descr="image.png"/>
          <p:cNvPicPr>
            <a:picLocks noChangeAspect="1"/>
          </p:cNvPicPr>
          <p:nvPr/>
        </p:nvPicPr>
        <p:blipFill>
          <a:blip r:embed="rId5"/>
          <a:stretch>
            <a:fillRect/>
          </a:stretch>
        </p:blipFill>
        <p:spPr>
          <a:xfrm>
            <a:off x="523875" y="6400800"/>
            <a:ext cx="12192000" cy="285750"/>
          </a:xfrm>
          <a:prstGeom prst="rect">
            <a:avLst/>
          </a:prstGeom>
        </p:spPr>
      </p:pic>
      <p:sp>
        <p:nvSpPr>
          <p:cNvPr id="6" name="TextBox 5"/>
          <p:cNvSpPr txBox="1"/>
          <p:nvPr/>
        </p:nvSpPr>
        <p:spPr>
          <a:xfrm>
            <a:off x="523875" y="6524625"/>
            <a:ext cx="2886075" cy="161925"/>
          </a:xfrm>
          <a:prstGeom prst="rect">
            <a:avLst/>
          </a:prstGeom>
          <a:noFill/>
        </p:spPr>
        <p:txBody>
          <a:bodyPr wrap="square" lIns="0" tIns="0" rIns="0" bIns="0" anchor="t">
            <a:spAutoFit/>
          </a:bodyPr>
          <a:lstStyle/>
          <a:p>
            <a:pPr algn="l"/>
            <a:r>
              <a:rPr sz="1050" b="0" i="0" u="none">
                <a:solidFill>
                  <a:srgbClr val="64748B"/>
                </a:solidFill>
                <a:latin typeface="Inter Medium"/>
              </a:rPr>
              <a:t>Healthcare Admission &amp; Billing Cost Analysis</a:t>
            </a:r>
          </a:p>
        </p:txBody>
      </p:sp>
      <p:sp>
        <p:nvSpPr>
          <p:cNvPr id="7" name="TextBox 6"/>
          <p:cNvSpPr txBox="1"/>
          <p:nvPr/>
        </p:nvSpPr>
        <p:spPr>
          <a:xfrm>
            <a:off x="12268200" y="6524625"/>
            <a:ext cx="0" cy="161925"/>
          </a:xfrm>
          <a:prstGeom prst="rect">
            <a:avLst/>
          </a:prstGeom>
          <a:noFill/>
        </p:spPr>
        <p:txBody>
          <a:bodyPr wrap="square" lIns="0" tIns="0" rIns="0" bIns="0" anchor="t">
            <a:spAutoFit/>
          </a:bodyPr>
          <a:lstStyle/>
          <a:p>
            <a:pPr algn="l"/>
            <a:r>
              <a:rPr sz="1050" b="0" i="0" u="none">
                <a:solidFill>
                  <a:srgbClr val="64748B"/>
                </a:solidFill>
                <a:latin typeface="Inter Medium"/>
              </a:rPr>
              <a:t>Slide 2</a:t>
            </a:r>
          </a:p>
        </p:txBody>
      </p:sp>
      <p:sp>
        <p:nvSpPr>
          <p:cNvPr id="8" name="TextBox 7"/>
          <p:cNvSpPr txBox="1"/>
          <p:nvPr/>
        </p:nvSpPr>
        <p:spPr>
          <a:xfrm>
            <a:off x="1066800" y="1304925"/>
            <a:ext cx="4880610" cy="266700"/>
          </a:xfrm>
          <a:prstGeom prst="rect">
            <a:avLst/>
          </a:prstGeom>
          <a:noFill/>
        </p:spPr>
        <p:txBody>
          <a:bodyPr wrap="square" lIns="0" tIns="0" rIns="0" bIns="0" anchor="ctr">
            <a:spAutoFit/>
          </a:bodyPr>
          <a:lstStyle/>
          <a:p>
            <a:pPr algn="l"/>
            <a:r>
              <a:rPr sz="1650" b="1" i="0" u="none">
                <a:solidFill>
                  <a:srgbClr val="0F172A"/>
                </a:solidFill>
                <a:latin typeface="Plus Jakarta Sans"/>
              </a:rPr>
              <a:t>Operational Challenge</a:t>
            </a:r>
          </a:p>
        </p:txBody>
      </p:sp>
      <p:sp>
        <p:nvSpPr>
          <p:cNvPr id="9" name="TextBox 8"/>
          <p:cNvSpPr txBox="1"/>
          <p:nvPr/>
        </p:nvSpPr>
        <p:spPr>
          <a:xfrm>
            <a:off x="762000" y="1685925"/>
            <a:ext cx="4953000" cy="814387"/>
          </a:xfrm>
          <a:prstGeom prst="rect">
            <a:avLst/>
          </a:prstGeom>
          <a:noFill/>
        </p:spPr>
        <p:txBody>
          <a:bodyPr wrap="square" lIns="0" tIns="0" rIns="0" bIns="0" anchor="t">
            <a:spAutoFit/>
          </a:bodyPr>
          <a:lstStyle/>
          <a:p>
            <a:pPr algn="l">
              <a:lnSpc>
                <a:spcPts val="2137"/>
              </a:lnSpc>
            </a:pPr>
            <a:r>
              <a:rPr sz="1425" b="1" i="0" u="none" dirty="0">
                <a:solidFill>
                  <a:srgbClr val="1E293B"/>
                </a:solidFill>
                <a:latin typeface="Inter"/>
              </a:rPr>
              <a:t>Core Problem:</a:t>
            </a:r>
            <a:r>
              <a:rPr sz="1425" b="0" i="0" u="none" dirty="0">
                <a:solidFill>
                  <a:srgbClr val="1E293B"/>
                </a:solidFill>
                <a:latin typeface="Inter"/>
              </a:rPr>
              <a:t> Billing costs and lengths of stay vary widely across conditions and hospitals, making true cost drivers exceptionally difficult to pinpoint.</a:t>
            </a:r>
          </a:p>
        </p:txBody>
      </p:sp>
      <p:sp>
        <p:nvSpPr>
          <p:cNvPr id="10" name="TextBox 9"/>
          <p:cNvSpPr txBox="1"/>
          <p:nvPr/>
        </p:nvSpPr>
        <p:spPr>
          <a:xfrm>
            <a:off x="762000" y="2633662"/>
            <a:ext cx="4953000" cy="1085850"/>
          </a:xfrm>
          <a:prstGeom prst="rect">
            <a:avLst/>
          </a:prstGeom>
          <a:noFill/>
        </p:spPr>
        <p:txBody>
          <a:bodyPr wrap="square" lIns="0" tIns="0" rIns="0" bIns="0" anchor="t">
            <a:spAutoFit/>
          </a:bodyPr>
          <a:lstStyle/>
          <a:p>
            <a:pPr algn="l">
              <a:lnSpc>
                <a:spcPts val="2137"/>
              </a:lnSpc>
            </a:pPr>
            <a:r>
              <a:rPr sz="1425" b="1" i="0" u="none" dirty="0">
                <a:solidFill>
                  <a:srgbClr val="1E293B"/>
                </a:solidFill>
                <a:latin typeface="Inter"/>
              </a:rPr>
              <a:t>Operational Impact:</a:t>
            </a:r>
            <a:r>
              <a:rPr sz="1425" b="0" i="0" u="none" dirty="0">
                <a:solidFill>
                  <a:srgbClr val="1E293B"/>
                </a:solidFill>
                <a:latin typeface="Inter"/>
              </a:rPr>
              <a:t> Without granular visibility, hospital systems and insurers struggle to anticipate high-cost admissions, optimize bed allocation, or prioritize resource planning effectively.</a:t>
            </a:r>
          </a:p>
        </p:txBody>
      </p:sp>
      <p:pic>
        <p:nvPicPr>
          <p:cNvPr id="11" name="Picture 10" descr="image.png"/>
          <p:cNvPicPr>
            <a:picLocks noChangeAspect="1"/>
          </p:cNvPicPr>
          <p:nvPr/>
        </p:nvPicPr>
        <p:blipFill>
          <a:blip r:embed="rId6"/>
          <a:stretch>
            <a:fillRect/>
          </a:stretch>
        </p:blipFill>
        <p:spPr>
          <a:xfrm>
            <a:off x="6248400" y="1076325"/>
            <a:ext cx="5410200" cy="3079105"/>
          </a:xfrm>
          <a:prstGeom prst="rect">
            <a:avLst/>
          </a:prstGeom>
        </p:spPr>
      </p:pic>
      <p:pic>
        <p:nvPicPr>
          <p:cNvPr id="12" name="Picture 11" descr="image.png"/>
          <p:cNvPicPr>
            <a:picLocks noChangeAspect="1"/>
          </p:cNvPicPr>
          <p:nvPr/>
        </p:nvPicPr>
        <p:blipFill>
          <a:blip r:embed="rId7"/>
          <a:stretch>
            <a:fillRect/>
          </a:stretch>
        </p:blipFill>
        <p:spPr>
          <a:xfrm>
            <a:off x="762000" y="1333500"/>
            <a:ext cx="209550" cy="209550"/>
          </a:xfrm>
          <a:prstGeom prst="rect">
            <a:avLst/>
          </a:prstGeom>
        </p:spPr>
      </p:pic>
      <p:sp>
        <p:nvSpPr>
          <p:cNvPr id="13" name="TextBox 12"/>
          <p:cNvSpPr txBox="1"/>
          <p:nvPr/>
        </p:nvSpPr>
        <p:spPr>
          <a:xfrm>
            <a:off x="523875" y="428625"/>
            <a:ext cx="11668125" cy="447675"/>
          </a:xfrm>
          <a:prstGeom prst="rect">
            <a:avLst/>
          </a:prstGeom>
          <a:noFill/>
        </p:spPr>
        <p:txBody>
          <a:bodyPr wrap="square" lIns="0" tIns="0" rIns="0" bIns="0" anchor="t">
            <a:spAutoFit/>
          </a:bodyPr>
          <a:lstStyle/>
          <a:p>
            <a:pPr algn="l"/>
            <a:r>
              <a:rPr sz="2850" b="1" i="0" u="none">
                <a:solidFill>
                  <a:srgbClr val="0F172A"/>
                </a:solidFill>
                <a:latin typeface="Plus Jakarta Sans"/>
              </a:rPr>
              <a:t>Business Problem &amp; Target Stakeholders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1921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1066800"/>
            <a:ext cx="11144250" cy="819150"/>
          </a:xfrm>
          <a:prstGeom prst="rect">
            <a:avLst/>
          </a:prstGeom>
        </p:spPr>
      </p:pic>
      <p:pic>
        <p:nvPicPr>
          <p:cNvPr id="4" name="Picture 3" descr="image.png"/>
          <p:cNvPicPr>
            <a:picLocks noChangeAspect="1"/>
          </p:cNvPicPr>
          <p:nvPr/>
        </p:nvPicPr>
        <p:blipFill>
          <a:blip r:embed="rId4"/>
          <a:stretch>
            <a:fillRect/>
          </a:stretch>
        </p:blipFill>
        <p:spPr>
          <a:xfrm>
            <a:off x="523875" y="2057400"/>
            <a:ext cx="5505450" cy="771525"/>
          </a:xfrm>
          <a:prstGeom prst="rect">
            <a:avLst/>
          </a:prstGeom>
        </p:spPr>
      </p:pic>
      <p:pic>
        <p:nvPicPr>
          <p:cNvPr id="5" name="Picture 4" descr="image.png"/>
          <p:cNvPicPr>
            <a:picLocks noChangeAspect="1"/>
          </p:cNvPicPr>
          <p:nvPr/>
        </p:nvPicPr>
        <p:blipFill>
          <a:blip r:embed="rId5"/>
          <a:stretch>
            <a:fillRect/>
          </a:stretch>
        </p:blipFill>
        <p:spPr>
          <a:xfrm>
            <a:off x="6162675" y="2057400"/>
            <a:ext cx="5505450" cy="771525"/>
          </a:xfrm>
          <a:prstGeom prst="rect">
            <a:avLst/>
          </a:prstGeom>
        </p:spPr>
      </p:pic>
      <p:pic>
        <p:nvPicPr>
          <p:cNvPr id="6" name="Picture 5" descr="image.png"/>
          <p:cNvPicPr>
            <a:picLocks noChangeAspect="1"/>
          </p:cNvPicPr>
          <p:nvPr/>
        </p:nvPicPr>
        <p:blipFill>
          <a:blip r:embed="rId6"/>
          <a:stretch>
            <a:fillRect/>
          </a:stretch>
        </p:blipFill>
        <p:spPr>
          <a:xfrm>
            <a:off x="523875" y="2962275"/>
            <a:ext cx="5505450" cy="771525"/>
          </a:xfrm>
          <a:prstGeom prst="rect">
            <a:avLst/>
          </a:prstGeom>
        </p:spPr>
      </p:pic>
      <p:pic>
        <p:nvPicPr>
          <p:cNvPr id="7" name="Picture 6" descr="image.png"/>
          <p:cNvPicPr>
            <a:picLocks noChangeAspect="1"/>
          </p:cNvPicPr>
          <p:nvPr/>
        </p:nvPicPr>
        <p:blipFill>
          <a:blip r:embed="rId6"/>
          <a:stretch>
            <a:fillRect/>
          </a:stretch>
        </p:blipFill>
        <p:spPr>
          <a:xfrm>
            <a:off x="6162675" y="2962275"/>
            <a:ext cx="5505450" cy="771525"/>
          </a:xfrm>
          <a:prstGeom prst="rect">
            <a:avLst/>
          </a:prstGeom>
        </p:spPr>
      </p:pic>
      <p:pic>
        <p:nvPicPr>
          <p:cNvPr id="8" name="Picture 7" descr="image.png"/>
          <p:cNvPicPr>
            <a:picLocks noChangeAspect="1"/>
          </p:cNvPicPr>
          <p:nvPr/>
        </p:nvPicPr>
        <p:blipFill>
          <a:blip r:embed="rId7"/>
          <a:stretch>
            <a:fillRect/>
          </a:stretch>
        </p:blipFill>
        <p:spPr>
          <a:xfrm>
            <a:off x="523875" y="6400800"/>
            <a:ext cx="12192000" cy="285750"/>
          </a:xfrm>
          <a:prstGeom prst="rect">
            <a:avLst/>
          </a:prstGeom>
        </p:spPr>
      </p:pic>
      <p:sp>
        <p:nvSpPr>
          <p:cNvPr id="9" name="TextBox 8"/>
          <p:cNvSpPr txBox="1"/>
          <p:nvPr/>
        </p:nvSpPr>
        <p:spPr>
          <a:xfrm>
            <a:off x="523875" y="6524625"/>
            <a:ext cx="2886075" cy="161925"/>
          </a:xfrm>
          <a:prstGeom prst="rect">
            <a:avLst/>
          </a:prstGeom>
          <a:noFill/>
        </p:spPr>
        <p:txBody>
          <a:bodyPr wrap="square" lIns="0" tIns="0" rIns="0" bIns="0" anchor="t">
            <a:spAutoFit/>
          </a:bodyPr>
          <a:lstStyle/>
          <a:p>
            <a:pPr algn="l"/>
            <a:r>
              <a:rPr sz="1050" b="0" i="0" u="none">
                <a:solidFill>
                  <a:srgbClr val="64748B"/>
                </a:solidFill>
                <a:latin typeface="Inter Medium"/>
              </a:rPr>
              <a:t>Healthcare Admission &amp; Billing Cost Analysis</a:t>
            </a:r>
          </a:p>
        </p:txBody>
      </p:sp>
      <p:sp>
        <p:nvSpPr>
          <p:cNvPr id="10" name="TextBox 9"/>
          <p:cNvSpPr txBox="1"/>
          <p:nvPr/>
        </p:nvSpPr>
        <p:spPr>
          <a:xfrm>
            <a:off x="12268200" y="6524625"/>
            <a:ext cx="0" cy="161925"/>
          </a:xfrm>
          <a:prstGeom prst="rect">
            <a:avLst/>
          </a:prstGeom>
          <a:noFill/>
        </p:spPr>
        <p:txBody>
          <a:bodyPr wrap="square" lIns="0" tIns="0" rIns="0" bIns="0" anchor="t">
            <a:spAutoFit/>
          </a:bodyPr>
          <a:lstStyle/>
          <a:p>
            <a:pPr algn="l"/>
            <a:r>
              <a:rPr sz="1050" b="0" i="0" u="none">
                <a:solidFill>
                  <a:srgbClr val="64748B"/>
                </a:solidFill>
                <a:latin typeface="Inter Medium"/>
              </a:rPr>
              <a:t>Slide 3</a:t>
            </a:r>
          </a:p>
        </p:txBody>
      </p:sp>
      <p:sp>
        <p:nvSpPr>
          <p:cNvPr id="11" name="TextBox 10"/>
          <p:cNvSpPr txBox="1"/>
          <p:nvPr/>
        </p:nvSpPr>
        <p:spPr>
          <a:xfrm>
            <a:off x="762000" y="1219200"/>
            <a:ext cx="10715625" cy="514350"/>
          </a:xfrm>
          <a:prstGeom prst="rect">
            <a:avLst/>
          </a:prstGeom>
          <a:noFill/>
        </p:spPr>
        <p:txBody>
          <a:bodyPr wrap="square" lIns="0" tIns="0" rIns="0" bIns="0" anchor="t">
            <a:spAutoFit/>
          </a:bodyPr>
          <a:lstStyle/>
          <a:p>
            <a:pPr algn="l">
              <a:lnSpc>
                <a:spcPts val="2025"/>
              </a:lnSpc>
            </a:pPr>
            <a:r>
              <a:rPr sz="1600" b="0" i="0" u="none" dirty="0">
                <a:solidFill>
                  <a:srgbClr val="166534"/>
                </a:solidFill>
                <a:latin typeface="Inter Black"/>
              </a:rPr>
              <a:t>Primary Objective:</a:t>
            </a:r>
            <a:r>
              <a:rPr sz="1600" b="1" i="0" u="none" dirty="0">
                <a:solidFill>
                  <a:srgbClr val="166534"/>
                </a:solidFill>
                <a:latin typeface="Inter"/>
              </a:rPr>
              <a:t> Identify medical, hospital, and patient factors associated with higher billing amounts and prolonged hospital stays using a rigorous SQL analytical pipeline.</a:t>
            </a:r>
          </a:p>
        </p:txBody>
      </p:sp>
      <p:pic>
        <p:nvPicPr>
          <p:cNvPr id="12" name="Picture 11" descr="image.png"/>
          <p:cNvPicPr>
            <a:picLocks noChangeAspect="1"/>
          </p:cNvPicPr>
          <p:nvPr/>
        </p:nvPicPr>
        <p:blipFill>
          <a:blip r:embed="rId8"/>
          <a:stretch>
            <a:fillRect/>
          </a:stretch>
        </p:blipFill>
        <p:spPr>
          <a:xfrm>
            <a:off x="704850" y="2200275"/>
            <a:ext cx="400050" cy="257175"/>
          </a:xfrm>
          <a:prstGeom prst="rect">
            <a:avLst/>
          </a:prstGeom>
        </p:spPr>
      </p:pic>
      <p:pic>
        <p:nvPicPr>
          <p:cNvPr id="13" name="Picture 12" descr="image.png"/>
          <p:cNvPicPr>
            <a:picLocks noChangeAspect="1"/>
          </p:cNvPicPr>
          <p:nvPr/>
        </p:nvPicPr>
        <p:blipFill>
          <a:blip r:embed="rId9"/>
          <a:stretch>
            <a:fillRect/>
          </a:stretch>
        </p:blipFill>
        <p:spPr>
          <a:xfrm>
            <a:off x="6343650" y="2200275"/>
            <a:ext cx="428625" cy="257175"/>
          </a:xfrm>
          <a:prstGeom prst="rect">
            <a:avLst/>
          </a:prstGeom>
        </p:spPr>
      </p:pic>
      <p:pic>
        <p:nvPicPr>
          <p:cNvPr id="14" name="Picture 13" descr="image.png"/>
          <p:cNvPicPr>
            <a:picLocks noChangeAspect="1"/>
          </p:cNvPicPr>
          <p:nvPr/>
        </p:nvPicPr>
        <p:blipFill>
          <a:blip r:embed="rId10"/>
          <a:stretch>
            <a:fillRect/>
          </a:stretch>
        </p:blipFill>
        <p:spPr>
          <a:xfrm>
            <a:off x="704850" y="3105150"/>
            <a:ext cx="438150" cy="257175"/>
          </a:xfrm>
          <a:prstGeom prst="rect">
            <a:avLst/>
          </a:prstGeom>
        </p:spPr>
      </p:pic>
      <p:pic>
        <p:nvPicPr>
          <p:cNvPr id="15" name="Picture 14" descr="image.png"/>
          <p:cNvPicPr>
            <a:picLocks noChangeAspect="1"/>
          </p:cNvPicPr>
          <p:nvPr/>
        </p:nvPicPr>
        <p:blipFill>
          <a:blip r:embed="rId11"/>
          <a:stretch>
            <a:fillRect/>
          </a:stretch>
        </p:blipFill>
        <p:spPr>
          <a:xfrm>
            <a:off x="6343650" y="3105150"/>
            <a:ext cx="438150" cy="257175"/>
          </a:xfrm>
          <a:prstGeom prst="rect">
            <a:avLst/>
          </a:prstGeom>
        </p:spPr>
      </p:pic>
      <p:sp>
        <p:nvSpPr>
          <p:cNvPr id="16" name="TextBox 15"/>
          <p:cNvSpPr txBox="1"/>
          <p:nvPr/>
        </p:nvSpPr>
        <p:spPr>
          <a:xfrm>
            <a:off x="1238250" y="2200275"/>
            <a:ext cx="4610100" cy="485775"/>
          </a:xfrm>
          <a:prstGeom prst="rect">
            <a:avLst/>
          </a:prstGeom>
          <a:noFill/>
        </p:spPr>
        <p:txBody>
          <a:bodyPr wrap="square" lIns="0" tIns="0" rIns="0" bIns="0" anchor="t">
            <a:spAutoFit/>
          </a:bodyPr>
          <a:lstStyle/>
          <a:p>
            <a:pPr algn="l">
              <a:lnSpc>
                <a:spcPts val="1912"/>
              </a:lnSpc>
            </a:pPr>
            <a:r>
              <a:rPr sz="1600" b="1" i="0" u="none" dirty="0">
                <a:solidFill>
                  <a:srgbClr val="0F172A"/>
                </a:solidFill>
                <a:latin typeface="Inter"/>
              </a:rPr>
              <a:t>Which medical conditions have highest average &amp; total billing amounts?</a:t>
            </a:r>
          </a:p>
        </p:txBody>
      </p:sp>
      <p:sp>
        <p:nvSpPr>
          <p:cNvPr id="17" name="TextBox 16"/>
          <p:cNvSpPr txBox="1"/>
          <p:nvPr/>
        </p:nvSpPr>
        <p:spPr>
          <a:xfrm>
            <a:off x="6905625" y="2200275"/>
            <a:ext cx="4581525" cy="485775"/>
          </a:xfrm>
          <a:prstGeom prst="rect">
            <a:avLst/>
          </a:prstGeom>
          <a:noFill/>
        </p:spPr>
        <p:txBody>
          <a:bodyPr wrap="square" lIns="0" tIns="0" rIns="0" bIns="0" anchor="t">
            <a:spAutoFit/>
          </a:bodyPr>
          <a:lstStyle/>
          <a:p>
            <a:pPr algn="l">
              <a:lnSpc>
                <a:spcPts val="1912"/>
              </a:lnSpc>
            </a:pPr>
            <a:r>
              <a:rPr sz="1600" b="1" i="0" u="none" dirty="0">
                <a:solidFill>
                  <a:srgbClr val="0F172A"/>
                </a:solidFill>
                <a:latin typeface="Inter"/>
              </a:rPr>
              <a:t>How do billing amounts and stay duration vary across admission types?</a:t>
            </a:r>
          </a:p>
        </p:txBody>
      </p:sp>
      <p:sp>
        <p:nvSpPr>
          <p:cNvPr id="18" name="TextBox 17"/>
          <p:cNvSpPr txBox="1"/>
          <p:nvPr/>
        </p:nvSpPr>
        <p:spPr>
          <a:xfrm>
            <a:off x="1276350" y="3105150"/>
            <a:ext cx="4572000" cy="485775"/>
          </a:xfrm>
          <a:prstGeom prst="rect">
            <a:avLst/>
          </a:prstGeom>
          <a:noFill/>
        </p:spPr>
        <p:txBody>
          <a:bodyPr wrap="square" lIns="0" tIns="0" rIns="0" bIns="0" anchor="t">
            <a:spAutoFit/>
          </a:bodyPr>
          <a:lstStyle/>
          <a:p>
            <a:pPr algn="l">
              <a:lnSpc>
                <a:spcPts val="1912"/>
              </a:lnSpc>
            </a:pPr>
            <a:r>
              <a:rPr sz="1600" b="1" i="0" u="none" dirty="0">
                <a:solidFill>
                  <a:srgbClr val="0F172A"/>
                </a:solidFill>
                <a:latin typeface="Inter"/>
              </a:rPr>
              <a:t>Which hospitals show higher average billing and longer stays?</a:t>
            </a:r>
          </a:p>
        </p:txBody>
      </p:sp>
      <p:sp>
        <p:nvSpPr>
          <p:cNvPr id="19" name="TextBox 18"/>
          <p:cNvSpPr txBox="1"/>
          <p:nvPr/>
        </p:nvSpPr>
        <p:spPr>
          <a:xfrm>
            <a:off x="6915150" y="3105150"/>
            <a:ext cx="4572000" cy="485775"/>
          </a:xfrm>
          <a:prstGeom prst="rect">
            <a:avLst/>
          </a:prstGeom>
          <a:noFill/>
        </p:spPr>
        <p:txBody>
          <a:bodyPr wrap="square" lIns="0" tIns="0" rIns="0" bIns="0" anchor="t">
            <a:spAutoFit/>
          </a:bodyPr>
          <a:lstStyle/>
          <a:p>
            <a:pPr algn="l">
              <a:lnSpc>
                <a:spcPts val="1912"/>
              </a:lnSpc>
            </a:pPr>
            <a:r>
              <a:rPr sz="1600" b="1" i="0" u="none" dirty="0">
                <a:solidFill>
                  <a:srgbClr val="0F172A"/>
                </a:solidFill>
                <a:latin typeface="Inter"/>
              </a:rPr>
              <a:t>How do billing patterns vary across insurance and age groups?</a:t>
            </a:r>
          </a:p>
        </p:txBody>
      </p:sp>
      <p:sp>
        <p:nvSpPr>
          <p:cNvPr id="20" name="TextBox 19"/>
          <p:cNvSpPr txBox="1"/>
          <p:nvPr/>
        </p:nvSpPr>
        <p:spPr>
          <a:xfrm>
            <a:off x="523875" y="428625"/>
            <a:ext cx="11668125" cy="447675"/>
          </a:xfrm>
          <a:prstGeom prst="rect">
            <a:avLst/>
          </a:prstGeom>
          <a:noFill/>
        </p:spPr>
        <p:txBody>
          <a:bodyPr wrap="square" lIns="0" tIns="0" rIns="0" bIns="0" anchor="t">
            <a:spAutoFit/>
          </a:bodyPr>
          <a:lstStyle/>
          <a:p>
            <a:pPr algn="l"/>
            <a:r>
              <a:rPr sz="2850" b="1" i="0" u="none" dirty="0">
                <a:solidFill>
                  <a:srgbClr val="0F172A"/>
                </a:solidFill>
                <a:latin typeface="Plus Jakarta Sans"/>
              </a:rPr>
              <a:t>Objective &amp; Core Analytical Questions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9832"/>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1066800"/>
            <a:ext cx="5429250" cy="2767012"/>
          </a:xfrm>
          <a:prstGeom prst="rect">
            <a:avLst/>
          </a:prstGeom>
        </p:spPr>
      </p:pic>
      <p:pic>
        <p:nvPicPr>
          <p:cNvPr id="4" name="Picture 3" descr="image.png"/>
          <p:cNvPicPr>
            <a:picLocks noChangeAspect="1"/>
          </p:cNvPicPr>
          <p:nvPr/>
        </p:nvPicPr>
        <p:blipFill>
          <a:blip r:embed="rId4"/>
          <a:stretch>
            <a:fillRect/>
          </a:stretch>
        </p:blipFill>
        <p:spPr>
          <a:xfrm>
            <a:off x="6238875" y="1066800"/>
            <a:ext cx="5429250" cy="2767012"/>
          </a:xfrm>
          <a:prstGeom prst="rect">
            <a:avLst/>
          </a:prstGeom>
        </p:spPr>
      </p:pic>
      <p:pic>
        <p:nvPicPr>
          <p:cNvPr id="5" name="Picture 4" descr="image.png"/>
          <p:cNvPicPr>
            <a:picLocks noChangeAspect="1"/>
          </p:cNvPicPr>
          <p:nvPr/>
        </p:nvPicPr>
        <p:blipFill>
          <a:blip r:embed="rId5"/>
          <a:stretch>
            <a:fillRect/>
          </a:stretch>
        </p:blipFill>
        <p:spPr>
          <a:xfrm>
            <a:off x="6477000" y="1819275"/>
            <a:ext cx="2400300" cy="1019175"/>
          </a:xfrm>
          <a:prstGeom prst="rect">
            <a:avLst/>
          </a:prstGeom>
        </p:spPr>
      </p:pic>
      <p:pic>
        <p:nvPicPr>
          <p:cNvPr id="6" name="Picture 5" descr="image.png"/>
          <p:cNvPicPr>
            <a:picLocks noChangeAspect="1"/>
          </p:cNvPicPr>
          <p:nvPr/>
        </p:nvPicPr>
        <p:blipFill>
          <a:blip r:embed="rId6"/>
          <a:stretch>
            <a:fillRect/>
          </a:stretch>
        </p:blipFill>
        <p:spPr>
          <a:xfrm>
            <a:off x="9029700" y="1819275"/>
            <a:ext cx="2400300" cy="1019175"/>
          </a:xfrm>
          <a:prstGeom prst="rect">
            <a:avLst/>
          </a:prstGeom>
        </p:spPr>
      </p:pic>
      <p:pic>
        <p:nvPicPr>
          <p:cNvPr id="7" name="Picture 6" descr="image.png"/>
          <p:cNvPicPr>
            <a:picLocks noChangeAspect="1"/>
          </p:cNvPicPr>
          <p:nvPr/>
        </p:nvPicPr>
        <p:blipFill>
          <a:blip r:embed="rId7"/>
          <a:stretch>
            <a:fillRect/>
          </a:stretch>
        </p:blipFill>
        <p:spPr>
          <a:xfrm>
            <a:off x="523875" y="6400800"/>
            <a:ext cx="12192000" cy="285750"/>
          </a:xfrm>
          <a:prstGeom prst="rect">
            <a:avLst/>
          </a:prstGeom>
        </p:spPr>
      </p:pic>
      <p:sp>
        <p:nvSpPr>
          <p:cNvPr id="8" name="TextBox 7"/>
          <p:cNvSpPr txBox="1"/>
          <p:nvPr/>
        </p:nvSpPr>
        <p:spPr>
          <a:xfrm>
            <a:off x="523875" y="6524625"/>
            <a:ext cx="4008794" cy="246221"/>
          </a:xfrm>
          <a:prstGeom prst="rect">
            <a:avLst/>
          </a:prstGeom>
          <a:noFill/>
        </p:spPr>
        <p:txBody>
          <a:bodyPr wrap="square" lIns="0" tIns="0" rIns="0" bIns="0" anchor="t">
            <a:spAutoFit/>
          </a:bodyPr>
          <a:lstStyle/>
          <a:p>
            <a:pPr algn="l"/>
            <a:r>
              <a:rPr sz="1600" b="0" i="0" u="none" dirty="0">
                <a:solidFill>
                  <a:srgbClr val="64748B"/>
                </a:solidFill>
                <a:latin typeface="Inter Medium"/>
              </a:rPr>
              <a:t>Healthcare Admission &amp; Billing Cost Analysis</a:t>
            </a:r>
          </a:p>
        </p:txBody>
      </p:sp>
      <p:sp>
        <p:nvSpPr>
          <p:cNvPr id="9" name="TextBox 8"/>
          <p:cNvSpPr txBox="1"/>
          <p:nvPr/>
        </p:nvSpPr>
        <p:spPr>
          <a:xfrm>
            <a:off x="12268200" y="6524625"/>
            <a:ext cx="0" cy="1477328"/>
          </a:xfrm>
          <a:prstGeom prst="rect">
            <a:avLst/>
          </a:prstGeom>
          <a:noFill/>
        </p:spPr>
        <p:txBody>
          <a:bodyPr wrap="square" lIns="0" tIns="0" rIns="0" bIns="0" anchor="t">
            <a:spAutoFit/>
          </a:bodyPr>
          <a:lstStyle/>
          <a:p>
            <a:pPr algn="l"/>
            <a:r>
              <a:rPr sz="1600" b="0" i="0" u="none">
                <a:solidFill>
                  <a:srgbClr val="64748B"/>
                </a:solidFill>
                <a:latin typeface="Inter Medium"/>
              </a:rPr>
              <a:t>Slide 4</a:t>
            </a:r>
          </a:p>
        </p:txBody>
      </p:sp>
      <p:sp>
        <p:nvSpPr>
          <p:cNvPr id="10" name="TextBox 9"/>
          <p:cNvSpPr txBox="1"/>
          <p:nvPr/>
        </p:nvSpPr>
        <p:spPr>
          <a:xfrm>
            <a:off x="1038225" y="1315164"/>
            <a:ext cx="4910613" cy="246221"/>
          </a:xfrm>
          <a:prstGeom prst="rect">
            <a:avLst/>
          </a:prstGeom>
          <a:noFill/>
        </p:spPr>
        <p:txBody>
          <a:bodyPr wrap="square" lIns="0" tIns="0" rIns="0" bIns="0" anchor="ctr">
            <a:spAutoFit/>
          </a:bodyPr>
          <a:lstStyle/>
          <a:p>
            <a:pPr algn="l"/>
            <a:r>
              <a:rPr sz="1600" b="1" i="0" u="none">
                <a:solidFill>
                  <a:srgbClr val="0F172A"/>
                </a:solidFill>
                <a:latin typeface="Plus Jakarta Sans"/>
              </a:rPr>
              <a:t>Dataset Architecture</a:t>
            </a:r>
          </a:p>
        </p:txBody>
      </p:sp>
      <p:sp>
        <p:nvSpPr>
          <p:cNvPr id="11" name="TextBox 10"/>
          <p:cNvSpPr txBox="1"/>
          <p:nvPr/>
        </p:nvSpPr>
        <p:spPr>
          <a:xfrm>
            <a:off x="762000" y="1685925"/>
            <a:ext cx="4953000" cy="256096"/>
          </a:xfrm>
          <a:prstGeom prst="rect">
            <a:avLst/>
          </a:prstGeom>
          <a:noFill/>
        </p:spPr>
        <p:txBody>
          <a:bodyPr wrap="square" lIns="0" tIns="0" rIns="0" bIns="0" anchor="t">
            <a:spAutoFit/>
          </a:bodyPr>
          <a:lstStyle/>
          <a:p>
            <a:pPr algn="l">
              <a:lnSpc>
                <a:spcPts val="2137"/>
              </a:lnSpc>
            </a:pPr>
            <a:r>
              <a:rPr sz="1600" b="1" i="0" u="none">
                <a:solidFill>
                  <a:srgbClr val="1E293B"/>
                </a:solidFill>
                <a:latin typeface="Inter"/>
              </a:rPr>
              <a:t>Source Table:</a:t>
            </a:r>
            <a:r>
              <a:rPr sz="1600" b="0" i="0" u="none">
                <a:solidFill>
                  <a:srgbClr val="1E293B"/>
                </a:solidFill>
                <a:latin typeface="Inter"/>
              </a:rPr>
              <a:t> healthcare_staging</a:t>
            </a:r>
          </a:p>
        </p:txBody>
      </p:sp>
      <p:sp>
        <p:nvSpPr>
          <p:cNvPr id="12" name="TextBox 11"/>
          <p:cNvSpPr txBox="1"/>
          <p:nvPr/>
        </p:nvSpPr>
        <p:spPr>
          <a:xfrm>
            <a:off x="762000" y="1957387"/>
            <a:ext cx="4953000" cy="542925"/>
          </a:xfrm>
          <a:prstGeom prst="rect">
            <a:avLst/>
          </a:prstGeom>
          <a:noFill/>
        </p:spPr>
        <p:txBody>
          <a:bodyPr wrap="square" lIns="0" tIns="0" rIns="0" bIns="0" anchor="t">
            <a:spAutoFit/>
          </a:bodyPr>
          <a:lstStyle/>
          <a:p>
            <a:pPr algn="l">
              <a:lnSpc>
                <a:spcPts val="2137"/>
              </a:lnSpc>
            </a:pPr>
            <a:r>
              <a:rPr sz="1600" b="1" i="0" u="none">
                <a:solidFill>
                  <a:srgbClr val="1E293B"/>
                </a:solidFill>
                <a:latin typeface="Inter"/>
              </a:rPr>
              <a:t>Sample Size:</a:t>
            </a:r>
            <a:r>
              <a:rPr sz="1600" b="0" i="0" u="none">
                <a:solidFill>
                  <a:srgbClr val="1E293B"/>
                </a:solidFill>
                <a:latin typeface="Inter"/>
              </a:rPr>
              <a:t> 1,000 comprehensive patient admission records</a:t>
            </a:r>
          </a:p>
        </p:txBody>
      </p:sp>
      <p:sp>
        <p:nvSpPr>
          <p:cNvPr id="13" name="TextBox 12"/>
          <p:cNvSpPr txBox="1"/>
          <p:nvPr/>
        </p:nvSpPr>
        <p:spPr>
          <a:xfrm>
            <a:off x="762000" y="2500312"/>
            <a:ext cx="4953000" cy="542925"/>
          </a:xfrm>
          <a:prstGeom prst="rect">
            <a:avLst/>
          </a:prstGeom>
          <a:noFill/>
        </p:spPr>
        <p:txBody>
          <a:bodyPr wrap="square" lIns="0" tIns="0" rIns="0" bIns="0" anchor="t">
            <a:spAutoFit/>
          </a:bodyPr>
          <a:lstStyle/>
          <a:p>
            <a:pPr algn="l">
              <a:lnSpc>
                <a:spcPts val="2137"/>
              </a:lnSpc>
            </a:pPr>
            <a:r>
              <a:rPr sz="1600" b="1" i="0" u="none">
                <a:solidFill>
                  <a:srgbClr val="1E293B"/>
                </a:solidFill>
                <a:latin typeface="Inter"/>
              </a:rPr>
              <a:t>Timeline:</a:t>
            </a:r>
            <a:r>
              <a:rPr sz="1600" b="0" i="0" u="none">
                <a:solidFill>
                  <a:srgbClr val="1E293B"/>
                </a:solidFill>
                <a:latin typeface="Inter"/>
              </a:rPr>
              <a:t> Spanning historical admissions from January 2024 to December 2026</a:t>
            </a:r>
          </a:p>
        </p:txBody>
      </p:sp>
      <p:sp>
        <p:nvSpPr>
          <p:cNvPr id="14" name="TextBox 13"/>
          <p:cNvSpPr txBox="1"/>
          <p:nvPr/>
        </p:nvSpPr>
        <p:spPr>
          <a:xfrm>
            <a:off x="762000" y="3138487"/>
            <a:ext cx="4953000" cy="457200"/>
          </a:xfrm>
          <a:prstGeom prst="rect">
            <a:avLst/>
          </a:prstGeom>
          <a:noFill/>
        </p:spPr>
        <p:txBody>
          <a:bodyPr wrap="square" lIns="0" tIns="0" rIns="0" bIns="0" anchor="t">
            <a:spAutoFit/>
          </a:bodyPr>
          <a:lstStyle/>
          <a:p>
            <a:pPr algn="l">
              <a:lnSpc>
                <a:spcPts val="1800"/>
              </a:lnSpc>
            </a:pPr>
            <a:r>
              <a:rPr sz="1600" b="0" i="0" u="none">
                <a:solidFill>
                  <a:srgbClr val="475569"/>
                </a:solidFill>
                <a:latin typeface="Inter"/>
              </a:rPr>
              <a:t>Structured for multi-dimensional aggregation across clinical, operational, and financial dimensions.</a:t>
            </a:r>
          </a:p>
        </p:txBody>
      </p:sp>
      <p:sp>
        <p:nvSpPr>
          <p:cNvPr id="15" name="TextBox 14"/>
          <p:cNvSpPr txBox="1"/>
          <p:nvPr/>
        </p:nvSpPr>
        <p:spPr>
          <a:xfrm>
            <a:off x="6810375" y="1315164"/>
            <a:ext cx="4850606" cy="246221"/>
          </a:xfrm>
          <a:prstGeom prst="rect">
            <a:avLst/>
          </a:prstGeom>
          <a:noFill/>
        </p:spPr>
        <p:txBody>
          <a:bodyPr wrap="square" lIns="0" tIns="0" rIns="0" bIns="0" anchor="ctr">
            <a:spAutoFit/>
          </a:bodyPr>
          <a:lstStyle/>
          <a:p>
            <a:pPr algn="l"/>
            <a:r>
              <a:rPr sz="1600" b="1" i="0" u="none">
                <a:solidFill>
                  <a:srgbClr val="0F172A"/>
                </a:solidFill>
                <a:latin typeface="Plus Jakarta Sans"/>
              </a:rPr>
              <a:t>Network Scale Summary</a:t>
            </a:r>
          </a:p>
        </p:txBody>
      </p:sp>
      <p:pic>
        <p:nvPicPr>
          <p:cNvPr id="16" name="Picture 15" descr="image.png"/>
          <p:cNvPicPr>
            <a:picLocks noChangeAspect="1"/>
          </p:cNvPicPr>
          <p:nvPr/>
        </p:nvPicPr>
        <p:blipFill>
          <a:blip r:embed="rId8"/>
          <a:stretch>
            <a:fillRect/>
          </a:stretch>
        </p:blipFill>
        <p:spPr>
          <a:xfrm>
            <a:off x="762000" y="1333500"/>
            <a:ext cx="180975" cy="209550"/>
          </a:xfrm>
          <a:prstGeom prst="rect">
            <a:avLst/>
          </a:prstGeom>
        </p:spPr>
      </p:pic>
      <p:pic>
        <p:nvPicPr>
          <p:cNvPr id="17" name="Picture 16" descr="image.png"/>
          <p:cNvPicPr>
            <a:picLocks noChangeAspect="1"/>
          </p:cNvPicPr>
          <p:nvPr/>
        </p:nvPicPr>
        <p:blipFill>
          <a:blip r:embed="rId9"/>
          <a:stretch>
            <a:fillRect/>
          </a:stretch>
        </p:blipFill>
        <p:spPr>
          <a:xfrm>
            <a:off x="6477000" y="1333500"/>
            <a:ext cx="238125" cy="209550"/>
          </a:xfrm>
          <a:prstGeom prst="rect">
            <a:avLst/>
          </a:prstGeom>
        </p:spPr>
      </p:pic>
      <p:sp>
        <p:nvSpPr>
          <p:cNvPr id="18" name="TextBox 17"/>
          <p:cNvSpPr txBox="1"/>
          <p:nvPr/>
        </p:nvSpPr>
        <p:spPr>
          <a:xfrm>
            <a:off x="6677025" y="2019300"/>
            <a:ext cx="2000250" cy="246221"/>
          </a:xfrm>
          <a:prstGeom prst="rect">
            <a:avLst/>
          </a:prstGeom>
          <a:noFill/>
        </p:spPr>
        <p:txBody>
          <a:bodyPr wrap="square" lIns="0" tIns="0" rIns="0" bIns="0" anchor="t">
            <a:spAutoFit/>
          </a:bodyPr>
          <a:lstStyle/>
          <a:p>
            <a:pPr algn="ctr"/>
            <a:r>
              <a:rPr sz="1600" b="1" i="0" u="none">
                <a:solidFill>
                  <a:srgbClr val="0EA5E9"/>
                </a:solidFill>
                <a:latin typeface="Inter"/>
              </a:rPr>
              <a:t>1,000</a:t>
            </a:r>
          </a:p>
        </p:txBody>
      </p:sp>
      <p:sp>
        <p:nvSpPr>
          <p:cNvPr id="19" name="TextBox 18"/>
          <p:cNvSpPr txBox="1"/>
          <p:nvPr/>
        </p:nvSpPr>
        <p:spPr>
          <a:xfrm>
            <a:off x="6734175" y="2270758"/>
            <a:ext cx="2000250" cy="492443"/>
          </a:xfrm>
          <a:prstGeom prst="rect">
            <a:avLst/>
          </a:prstGeom>
          <a:noFill/>
        </p:spPr>
        <p:txBody>
          <a:bodyPr wrap="square" lIns="0" tIns="0" rIns="0" bIns="0" anchor="t">
            <a:spAutoFit/>
          </a:bodyPr>
          <a:lstStyle/>
          <a:p>
            <a:pPr algn="ctr"/>
            <a:r>
              <a:rPr sz="1600" b="1" i="0" u="none" dirty="0">
                <a:solidFill>
                  <a:srgbClr val="475569"/>
                </a:solidFill>
                <a:latin typeface="Inter"/>
              </a:rPr>
              <a:t>Total Patient Admissions</a:t>
            </a:r>
          </a:p>
        </p:txBody>
      </p:sp>
      <p:sp>
        <p:nvSpPr>
          <p:cNvPr id="20" name="TextBox 19"/>
          <p:cNvSpPr txBox="1"/>
          <p:nvPr/>
        </p:nvSpPr>
        <p:spPr>
          <a:xfrm>
            <a:off x="9229725" y="2019300"/>
            <a:ext cx="2000250" cy="246221"/>
          </a:xfrm>
          <a:prstGeom prst="rect">
            <a:avLst/>
          </a:prstGeom>
          <a:noFill/>
        </p:spPr>
        <p:txBody>
          <a:bodyPr wrap="square" lIns="0" tIns="0" rIns="0" bIns="0" anchor="t">
            <a:spAutoFit/>
          </a:bodyPr>
          <a:lstStyle/>
          <a:p>
            <a:pPr algn="ctr"/>
            <a:r>
              <a:rPr sz="1600" b="1" i="0" u="none">
                <a:solidFill>
                  <a:srgbClr val="10B981"/>
                </a:solidFill>
                <a:latin typeface="Inter"/>
              </a:rPr>
              <a:t>$24.86M</a:t>
            </a:r>
          </a:p>
        </p:txBody>
      </p:sp>
      <p:sp>
        <p:nvSpPr>
          <p:cNvPr id="21" name="TextBox 20"/>
          <p:cNvSpPr txBox="1"/>
          <p:nvPr/>
        </p:nvSpPr>
        <p:spPr>
          <a:xfrm>
            <a:off x="9229725" y="2270758"/>
            <a:ext cx="2000250" cy="492443"/>
          </a:xfrm>
          <a:prstGeom prst="rect">
            <a:avLst/>
          </a:prstGeom>
          <a:noFill/>
        </p:spPr>
        <p:txBody>
          <a:bodyPr wrap="square" lIns="0" tIns="0" rIns="0" bIns="0" anchor="t">
            <a:spAutoFit/>
          </a:bodyPr>
          <a:lstStyle/>
          <a:p>
            <a:pPr algn="ctr"/>
            <a:r>
              <a:rPr sz="1600" b="1" i="0" u="none" dirty="0">
                <a:solidFill>
                  <a:srgbClr val="475569"/>
                </a:solidFill>
                <a:latin typeface="Inter"/>
              </a:rPr>
              <a:t>Total Revenue Generated</a:t>
            </a:r>
          </a:p>
        </p:txBody>
      </p:sp>
      <p:sp>
        <p:nvSpPr>
          <p:cNvPr id="22" name="TextBox 21"/>
          <p:cNvSpPr txBox="1"/>
          <p:nvPr/>
        </p:nvSpPr>
        <p:spPr>
          <a:xfrm>
            <a:off x="523875" y="428625"/>
            <a:ext cx="11668125" cy="492443"/>
          </a:xfrm>
          <a:prstGeom prst="rect">
            <a:avLst/>
          </a:prstGeom>
          <a:noFill/>
        </p:spPr>
        <p:txBody>
          <a:bodyPr wrap="square" lIns="0" tIns="0" rIns="0" bIns="0" anchor="t">
            <a:spAutoFit/>
          </a:bodyPr>
          <a:lstStyle/>
          <a:p>
            <a:pPr algn="l"/>
            <a:r>
              <a:rPr sz="3200" b="1" i="0" u="none" dirty="0">
                <a:solidFill>
                  <a:srgbClr val="0F172A"/>
                </a:solidFill>
                <a:latin typeface="Plus Jakarta Sans"/>
              </a:rPr>
              <a:t>Dataset Overview &amp; Core Scale Metrics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1066800"/>
            <a:ext cx="5429250" cy="3348037"/>
          </a:xfrm>
          <a:prstGeom prst="rect">
            <a:avLst/>
          </a:prstGeom>
        </p:spPr>
      </p:pic>
      <p:pic>
        <p:nvPicPr>
          <p:cNvPr id="4" name="Picture 3" descr="image.png"/>
          <p:cNvPicPr>
            <a:picLocks noChangeAspect="1"/>
          </p:cNvPicPr>
          <p:nvPr/>
        </p:nvPicPr>
        <p:blipFill>
          <a:blip r:embed="rId4"/>
          <a:stretch>
            <a:fillRect/>
          </a:stretch>
        </p:blipFill>
        <p:spPr>
          <a:xfrm>
            <a:off x="6238875" y="1066800"/>
            <a:ext cx="5429250" cy="3348037"/>
          </a:xfrm>
          <a:prstGeom prst="rect">
            <a:avLst/>
          </a:prstGeom>
        </p:spPr>
      </p:pic>
      <p:pic>
        <p:nvPicPr>
          <p:cNvPr id="5" name="Picture 4" descr="image.png"/>
          <p:cNvPicPr>
            <a:picLocks noChangeAspect="1"/>
          </p:cNvPicPr>
          <p:nvPr/>
        </p:nvPicPr>
        <p:blipFill>
          <a:blip r:embed="rId5"/>
          <a:stretch>
            <a:fillRect/>
          </a:stretch>
        </p:blipFill>
        <p:spPr>
          <a:xfrm>
            <a:off x="523875" y="6400800"/>
            <a:ext cx="12192000" cy="285750"/>
          </a:xfrm>
          <a:prstGeom prst="rect">
            <a:avLst/>
          </a:prstGeom>
        </p:spPr>
      </p:pic>
      <p:sp>
        <p:nvSpPr>
          <p:cNvPr id="6" name="TextBox 5"/>
          <p:cNvSpPr txBox="1"/>
          <p:nvPr/>
        </p:nvSpPr>
        <p:spPr>
          <a:xfrm>
            <a:off x="523875" y="6524625"/>
            <a:ext cx="4179387" cy="246221"/>
          </a:xfrm>
          <a:prstGeom prst="rect">
            <a:avLst/>
          </a:prstGeom>
          <a:noFill/>
        </p:spPr>
        <p:txBody>
          <a:bodyPr wrap="square" lIns="0" tIns="0" rIns="0" bIns="0" anchor="t">
            <a:spAutoFit/>
          </a:bodyPr>
          <a:lstStyle/>
          <a:p>
            <a:pPr algn="l"/>
            <a:r>
              <a:rPr sz="1600" b="0" i="0" u="none">
                <a:solidFill>
                  <a:srgbClr val="64748B"/>
                </a:solidFill>
                <a:latin typeface="Inter Medium"/>
              </a:rPr>
              <a:t>Healthcare Admission &amp; Billing Cost Analysis</a:t>
            </a:r>
          </a:p>
        </p:txBody>
      </p:sp>
      <p:sp>
        <p:nvSpPr>
          <p:cNvPr id="7" name="TextBox 6"/>
          <p:cNvSpPr txBox="1"/>
          <p:nvPr/>
        </p:nvSpPr>
        <p:spPr>
          <a:xfrm>
            <a:off x="12277724" y="6524625"/>
            <a:ext cx="45719" cy="1477328"/>
          </a:xfrm>
          <a:prstGeom prst="rect">
            <a:avLst/>
          </a:prstGeom>
          <a:noFill/>
        </p:spPr>
        <p:txBody>
          <a:bodyPr wrap="square" lIns="0" tIns="0" rIns="0" bIns="0" anchor="t">
            <a:spAutoFit/>
          </a:bodyPr>
          <a:lstStyle/>
          <a:p>
            <a:pPr algn="l"/>
            <a:r>
              <a:rPr sz="1600" b="0" i="0" u="none">
                <a:solidFill>
                  <a:srgbClr val="64748B"/>
                </a:solidFill>
                <a:latin typeface="Inter Medium"/>
              </a:rPr>
              <a:t>Slide 5</a:t>
            </a:r>
          </a:p>
        </p:txBody>
      </p:sp>
      <p:sp>
        <p:nvSpPr>
          <p:cNvPr id="8" name="TextBox 7"/>
          <p:cNvSpPr txBox="1"/>
          <p:nvPr/>
        </p:nvSpPr>
        <p:spPr>
          <a:xfrm>
            <a:off x="1095375" y="1315164"/>
            <a:ext cx="4850606" cy="246221"/>
          </a:xfrm>
          <a:prstGeom prst="rect">
            <a:avLst/>
          </a:prstGeom>
          <a:noFill/>
        </p:spPr>
        <p:txBody>
          <a:bodyPr wrap="square" lIns="0" tIns="0" rIns="0" bIns="0" anchor="ctr">
            <a:spAutoFit/>
          </a:bodyPr>
          <a:lstStyle/>
          <a:p>
            <a:pPr algn="l"/>
            <a:r>
              <a:rPr sz="1600" b="1" i="0" u="none">
                <a:solidFill>
                  <a:srgbClr val="0F172A"/>
                </a:solidFill>
                <a:latin typeface="Plus Jakarta Sans"/>
              </a:rPr>
              <a:t>Data Cleansing Actions</a:t>
            </a:r>
          </a:p>
        </p:txBody>
      </p:sp>
      <p:sp>
        <p:nvSpPr>
          <p:cNvPr id="9" name="TextBox 8"/>
          <p:cNvSpPr txBox="1"/>
          <p:nvPr/>
        </p:nvSpPr>
        <p:spPr>
          <a:xfrm>
            <a:off x="6838950" y="1315164"/>
            <a:ext cx="4820602" cy="246221"/>
          </a:xfrm>
          <a:prstGeom prst="rect">
            <a:avLst/>
          </a:prstGeom>
          <a:noFill/>
        </p:spPr>
        <p:txBody>
          <a:bodyPr wrap="square" lIns="0" tIns="0" rIns="0" bIns="0" anchor="ctr">
            <a:spAutoFit/>
          </a:bodyPr>
          <a:lstStyle/>
          <a:p>
            <a:pPr algn="l"/>
            <a:r>
              <a:rPr sz="1600" b="1" i="0" u="none">
                <a:solidFill>
                  <a:srgbClr val="0F172A"/>
                </a:solidFill>
                <a:latin typeface="Plus Jakarta Sans"/>
              </a:rPr>
              <a:t>SQL Toolkit Applied</a:t>
            </a:r>
          </a:p>
        </p:txBody>
      </p:sp>
      <p:sp>
        <p:nvSpPr>
          <p:cNvPr id="10" name="TextBox 9"/>
          <p:cNvSpPr txBox="1"/>
          <p:nvPr/>
        </p:nvSpPr>
        <p:spPr>
          <a:xfrm>
            <a:off x="6477000" y="2876550"/>
            <a:ext cx="4953000" cy="457200"/>
          </a:xfrm>
          <a:prstGeom prst="rect">
            <a:avLst/>
          </a:prstGeom>
          <a:noFill/>
        </p:spPr>
        <p:txBody>
          <a:bodyPr wrap="square" lIns="0" tIns="0" rIns="0" bIns="0" anchor="t">
            <a:spAutoFit/>
          </a:bodyPr>
          <a:lstStyle/>
          <a:p>
            <a:pPr algn="l">
              <a:lnSpc>
                <a:spcPts val="1800"/>
              </a:lnSpc>
            </a:pPr>
            <a:r>
              <a:rPr sz="1600" b="0" i="0" u="none">
                <a:solidFill>
                  <a:srgbClr val="475569"/>
                </a:solidFill>
                <a:latin typeface="Inter"/>
              </a:rPr>
              <a:t>Pipeline engineered to guarantee data integrity before executing operational KPI calculations.</a:t>
            </a:r>
          </a:p>
        </p:txBody>
      </p:sp>
      <p:pic>
        <p:nvPicPr>
          <p:cNvPr id="11" name="Picture 10" descr="image.png"/>
          <p:cNvPicPr>
            <a:picLocks noChangeAspect="1"/>
          </p:cNvPicPr>
          <p:nvPr/>
        </p:nvPicPr>
        <p:blipFill>
          <a:blip r:embed="rId6"/>
          <a:stretch>
            <a:fillRect/>
          </a:stretch>
        </p:blipFill>
        <p:spPr>
          <a:xfrm>
            <a:off x="762000" y="1333500"/>
            <a:ext cx="238125" cy="209550"/>
          </a:xfrm>
          <a:prstGeom prst="rect">
            <a:avLst/>
          </a:prstGeom>
        </p:spPr>
      </p:pic>
      <p:sp>
        <p:nvSpPr>
          <p:cNvPr id="12" name="TextBox 11"/>
          <p:cNvSpPr txBox="1"/>
          <p:nvPr/>
        </p:nvSpPr>
        <p:spPr>
          <a:xfrm>
            <a:off x="847725" y="1835943"/>
            <a:ext cx="104775" cy="246221"/>
          </a:xfrm>
          <a:prstGeom prst="rect">
            <a:avLst/>
          </a:prstGeom>
          <a:noFill/>
        </p:spPr>
        <p:txBody>
          <a:bodyPr wrap="square" lIns="0" tIns="0" rIns="0" bIns="0" anchor="t">
            <a:spAutoFit/>
          </a:bodyPr>
          <a:lstStyle/>
          <a:p>
            <a:pPr algn="l"/>
            <a:r>
              <a:rPr sz="1600" b="0" i="0" u="none">
                <a:solidFill>
                  <a:srgbClr val="1E293B"/>
                </a:solidFill>
                <a:latin typeface="Inter"/>
              </a:rPr>
              <a:t>•</a:t>
            </a:r>
          </a:p>
        </p:txBody>
      </p:sp>
      <p:sp>
        <p:nvSpPr>
          <p:cNvPr id="13" name="TextBox 12"/>
          <p:cNvSpPr txBox="1"/>
          <p:nvPr/>
        </p:nvSpPr>
        <p:spPr>
          <a:xfrm>
            <a:off x="952500" y="1838325"/>
            <a:ext cx="4762500" cy="256096"/>
          </a:xfrm>
          <a:prstGeom prst="rect">
            <a:avLst/>
          </a:prstGeom>
          <a:noFill/>
        </p:spPr>
        <p:txBody>
          <a:bodyPr wrap="square" lIns="104775" tIns="0" rIns="0" bIns="0" anchor="t">
            <a:spAutoFit/>
          </a:bodyPr>
          <a:lstStyle/>
          <a:p>
            <a:pPr algn="l">
              <a:lnSpc>
                <a:spcPts val="2137"/>
              </a:lnSpc>
            </a:pPr>
            <a:r>
              <a:rPr sz="1600" b="0" i="0" u="none">
                <a:solidFill>
                  <a:srgbClr val="1E293B"/>
                </a:solidFill>
                <a:latin typeface="Inter"/>
              </a:rPr>
              <a:t>Removed blank rows and exact duplicate admissions</a:t>
            </a:r>
          </a:p>
        </p:txBody>
      </p:sp>
      <p:sp>
        <p:nvSpPr>
          <p:cNvPr id="14" name="TextBox 13"/>
          <p:cNvSpPr txBox="1"/>
          <p:nvPr/>
        </p:nvSpPr>
        <p:spPr>
          <a:xfrm>
            <a:off x="847725" y="2202656"/>
            <a:ext cx="104775" cy="246221"/>
          </a:xfrm>
          <a:prstGeom prst="rect">
            <a:avLst/>
          </a:prstGeom>
          <a:noFill/>
        </p:spPr>
        <p:txBody>
          <a:bodyPr wrap="square" lIns="0" tIns="0" rIns="0" bIns="0" anchor="t">
            <a:spAutoFit/>
          </a:bodyPr>
          <a:lstStyle/>
          <a:p>
            <a:pPr algn="l"/>
            <a:r>
              <a:rPr sz="1600" b="0" i="0" u="none">
                <a:solidFill>
                  <a:srgbClr val="1E293B"/>
                </a:solidFill>
                <a:latin typeface="Inter"/>
              </a:rPr>
              <a:t>•</a:t>
            </a:r>
          </a:p>
        </p:txBody>
      </p:sp>
      <p:sp>
        <p:nvSpPr>
          <p:cNvPr id="15" name="TextBox 14"/>
          <p:cNvSpPr txBox="1"/>
          <p:nvPr/>
        </p:nvSpPr>
        <p:spPr>
          <a:xfrm>
            <a:off x="952500" y="2205037"/>
            <a:ext cx="4762500" cy="542925"/>
          </a:xfrm>
          <a:prstGeom prst="rect">
            <a:avLst/>
          </a:prstGeom>
          <a:noFill/>
        </p:spPr>
        <p:txBody>
          <a:bodyPr wrap="square" lIns="104775" tIns="0" rIns="0" bIns="0" anchor="t">
            <a:spAutoFit/>
          </a:bodyPr>
          <a:lstStyle/>
          <a:p>
            <a:pPr algn="l">
              <a:lnSpc>
                <a:spcPts val="2137"/>
              </a:lnSpc>
            </a:pPr>
            <a:r>
              <a:rPr sz="1600" b="0" i="0" u="none">
                <a:solidFill>
                  <a:srgbClr val="1E293B"/>
                </a:solidFill>
                <a:latin typeface="Inter"/>
              </a:rPr>
              <a:t>Trimmed whitespace and standardized categorical text values</a:t>
            </a:r>
          </a:p>
        </p:txBody>
      </p:sp>
      <p:sp>
        <p:nvSpPr>
          <p:cNvPr id="16" name="TextBox 15"/>
          <p:cNvSpPr txBox="1"/>
          <p:nvPr/>
        </p:nvSpPr>
        <p:spPr>
          <a:xfrm>
            <a:off x="847725" y="2840831"/>
            <a:ext cx="104775" cy="246221"/>
          </a:xfrm>
          <a:prstGeom prst="rect">
            <a:avLst/>
          </a:prstGeom>
          <a:noFill/>
        </p:spPr>
        <p:txBody>
          <a:bodyPr wrap="square" lIns="0" tIns="0" rIns="0" bIns="0" anchor="t">
            <a:spAutoFit/>
          </a:bodyPr>
          <a:lstStyle/>
          <a:p>
            <a:pPr algn="l"/>
            <a:r>
              <a:rPr sz="1600" b="0" i="0" u="none">
                <a:solidFill>
                  <a:srgbClr val="1E293B"/>
                </a:solidFill>
                <a:latin typeface="Inter"/>
              </a:rPr>
              <a:t>•</a:t>
            </a:r>
          </a:p>
        </p:txBody>
      </p:sp>
      <p:sp>
        <p:nvSpPr>
          <p:cNvPr id="17" name="TextBox 16"/>
          <p:cNvSpPr txBox="1"/>
          <p:nvPr/>
        </p:nvSpPr>
        <p:spPr>
          <a:xfrm>
            <a:off x="952500" y="2843212"/>
            <a:ext cx="4762500" cy="542925"/>
          </a:xfrm>
          <a:prstGeom prst="rect">
            <a:avLst/>
          </a:prstGeom>
          <a:noFill/>
        </p:spPr>
        <p:txBody>
          <a:bodyPr wrap="square" lIns="104775" tIns="0" rIns="0" bIns="0" anchor="t">
            <a:spAutoFit/>
          </a:bodyPr>
          <a:lstStyle/>
          <a:p>
            <a:pPr algn="l">
              <a:lnSpc>
                <a:spcPts val="2137"/>
              </a:lnSpc>
            </a:pPr>
            <a:r>
              <a:rPr sz="1600" b="0" i="0" u="none" dirty="0">
                <a:solidFill>
                  <a:srgbClr val="1E293B"/>
                </a:solidFill>
                <a:latin typeface="Inter"/>
              </a:rPr>
              <a:t>Corrected negative billing anomalies and validated patient age boundaries</a:t>
            </a:r>
          </a:p>
        </p:txBody>
      </p:sp>
      <p:sp>
        <p:nvSpPr>
          <p:cNvPr id="18" name="TextBox 17"/>
          <p:cNvSpPr txBox="1"/>
          <p:nvPr/>
        </p:nvSpPr>
        <p:spPr>
          <a:xfrm>
            <a:off x="847725" y="3479006"/>
            <a:ext cx="104775" cy="246221"/>
          </a:xfrm>
          <a:prstGeom prst="rect">
            <a:avLst/>
          </a:prstGeom>
          <a:noFill/>
        </p:spPr>
        <p:txBody>
          <a:bodyPr wrap="square" lIns="0" tIns="0" rIns="0" bIns="0" anchor="t">
            <a:spAutoFit/>
          </a:bodyPr>
          <a:lstStyle/>
          <a:p>
            <a:pPr algn="l"/>
            <a:r>
              <a:rPr sz="1600" b="0" i="0" u="none">
                <a:solidFill>
                  <a:srgbClr val="1E293B"/>
                </a:solidFill>
                <a:latin typeface="Inter"/>
              </a:rPr>
              <a:t>•</a:t>
            </a:r>
          </a:p>
        </p:txBody>
      </p:sp>
      <p:sp>
        <p:nvSpPr>
          <p:cNvPr id="19" name="TextBox 18"/>
          <p:cNvSpPr txBox="1"/>
          <p:nvPr/>
        </p:nvSpPr>
        <p:spPr>
          <a:xfrm>
            <a:off x="952500" y="3481387"/>
            <a:ext cx="4762500" cy="542925"/>
          </a:xfrm>
          <a:prstGeom prst="rect">
            <a:avLst/>
          </a:prstGeom>
          <a:noFill/>
        </p:spPr>
        <p:txBody>
          <a:bodyPr wrap="square" lIns="104775" tIns="0" rIns="0" bIns="0" anchor="t">
            <a:spAutoFit/>
          </a:bodyPr>
          <a:lstStyle/>
          <a:p>
            <a:pPr algn="l">
              <a:lnSpc>
                <a:spcPts val="2137"/>
              </a:lnSpc>
            </a:pPr>
            <a:r>
              <a:rPr sz="1600" b="0" i="0" u="none" dirty="0">
                <a:solidFill>
                  <a:srgbClr val="1E293B"/>
                </a:solidFill>
                <a:latin typeface="Inter"/>
              </a:rPr>
              <a:t>Parsed and formatted timestamp and date fields for precise duration queries</a:t>
            </a:r>
          </a:p>
        </p:txBody>
      </p:sp>
      <p:pic>
        <p:nvPicPr>
          <p:cNvPr id="20" name="Picture 19" descr="image.png"/>
          <p:cNvPicPr>
            <a:picLocks noChangeAspect="1"/>
          </p:cNvPicPr>
          <p:nvPr/>
        </p:nvPicPr>
        <p:blipFill>
          <a:blip r:embed="rId7"/>
          <a:stretch>
            <a:fillRect/>
          </a:stretch>
        </p:blipFill>
        <p:spPr>
          <a:xfrm>
            <a:off x="6477000" y="1333500"/>
            <a:ext cx="266700" cy="209550"/>
          </a:xfrm>
          <a:prstGeom prst="rect">
            <a:avLst/>
          </a:prstGeom>
        </p:spPr>
      </p:pic>
      <p:pic>
        <p:nvPicPr>
          <p:cNvPr id="21" name="Picture 20" descr="image.png"/>
          <p:cNvPicPr>
            <a:picLocks noChangeAspect="1"/>
          </p:cNvPicPr>
          <p:nvPr/>
        </p:nvPicPr>
        <p:blipFill>
          <a:blip r:embed="rId8"/>
          <a:stretch>
            <a:fillRect/>
          </a:stretch>
        </p:blipFill>
        <p:spPr>
          <a:xfrm>
            <a:off x="6477000" y="1781175"/>
            <a:ext cx="1400175" cy="257175"/>
          </a:xfrm>
          <a:prstGeom prst="rect">
            <a:avLst/>
          </a:prstGeom>
        </p:spPr>
      </p:pic>
      <p:pic>
        <p:nvPicPr>
          <p:cNvPr id="22" name="Picture 21" descr="image.png"/>
          <p:cNvPicPr>
            <a:picLocks noChangeAspect="1"/>
          </p:cNvPicPr>
          <p:nvPr/>
        </p:nvPicPr>
        <p:blipFill>
          <a:blip r:embed="rId9"/>
          <a:stretch>
            <a:fillRect/>
          </a:stretch>
        </p:blipFill>
        <p:spPr>
          <a:xfrm>
            <a:off x="7972425" y="1781175"/>
            <a:ext cx="1400175" cy="257175"/>
          </a:xfrm>
          <a:prstGeom prst="rect">
            <a:avLst/>
          </a:prstGeom>
        </p:spPr>
      </p:pic>
      <p:pic>
        <p:nvPicPr>
          <p:cNvPr id="23" name="Picture 22" descr="image.png"/>
          <p:cNvPicPr>
            <a:picLocks noChangeAspect="1"/>
          </p:cNvPicPr>
          <p:nvPr/>
        </p:nvPicPr>
        <p:blipFill>
          <a:blip r:embed="rId10"/>
          <a:stretch>
            <a:fillRect/>
          </a:stretch>
        </p:blipFill>
        <p:spPr>
          <a:xfrm>
            <a:off x="9467850" y="1781175"/>
            <a:ext cx="1400175" cy="257175"/>
          </a:xfrm>
          <a:prstGeom prst="rect">
            <a:avLst/>
          </a:prstGeom>
        </p:spPr>
      </p:pic>
      <p:pic>
        <p:nvPicPr>
          <p:cNvPr id="24" name="Picture 23" descr="image.png"/>
          <p:cNvPicPr>
            <a:picLocks noChangeAspect="1"/>
          </p:cNvPicPr>
          <p:nvPr/>
        </p:nvPicPr>
        <p:blipFill>
          <a:blip r:embed="rId11"/>
          <a:stretch>
            <a:fillRect/>
          </a:stretch>
        </p:blipFill>
        <p:spPr>
          <a:xfrm>
            <a:off x="6477000" y="2133600"/>
            <a:ext cx="1514475" cy="257175"/>
          </a:xfrm>
          <a:prstGeom prst="rect">
            <a:avLst/>
          </a:prstGeom>
        </p:spPr>
      </p:pic>
      <p:pic>
        <p:nvPicPr>
          <p:cNvPr id="25" name="Picture 24" descr="image.png"/>
          <p:cNvPicPr>
            <a:picLocks noChangeAspect="1"/>
          </p:cNvPicPr>
          <p:nvPr/>
        </p:nvPicPr>
        <p:blipFill>
          <a:blip r:embed="rId12"/>
          <a:stretch>
            <a:fillRect/>
          </a:stretch>
        </p:blipFill>
        <p:spPr>
          <a:xfrm>
            <a:off x="8086725" y="2133600"/>
            <a:ext cx="981075" cy="257175"/>
          </a:xfrm>
          <a:prstGeom prst="rect">
            <a:avLst/>
          </a:prstGeom>
        </p:spPr>
      </p:pic>
      <p:pic>
        <p:nvPicPr>
          <p:cNvPr id="26" name="Picture 25" descr="image.png"/>
          <p:cNvPicPr>
            <a:picLocks noChangeAspect="1"/>
          </p:cNvPicPr>
          <p:nvPr/>
        </p:nvPicPr>
        <p:blipFill>
          <a:blip r:embed="rId13"/>
          <a:stretch>
            <a:fillRect/>
          </a:stretch>
        </p:blipFill>
        <p:spPr>
          <a:xfrm>
            <a:off x="9163050" y="2133600"/>
            <a:ext cx="2000250" cy="257175"/>
          </a:xfrm>
          <a:prstGeom prst="rect">
            <a:avLst/>
          </a:prstGeom>
        </p:spPr>
      </p:pic>
      <p:pic>
        <p:nvPicPr>
          <p:cNvPr id="27" name="Picture 26" descr="image.png"/>
          <p:cNvPicPr>
            <a:picLocks noChangeAspect="1"/>
          </p:cNvPicPr>
          <p:nvPr/>
        </p:nvPicPr>
        <p:blipFill>
          <a:blip r:embed="rId14"/>
          <a:stretch>
            <a:fillRect/>
          </a:stretch>
        </p:blipFill>
        <p:spPr>
          <a:xfrm>
            <a:off x="6477000" y="2486025"/>
            <a:ext cx="1704975" cy="257175"/>
          </a:xfrm>
          <a:prstGeom prst="rect">
            <a:avLst/>
          </a:prstGeom>
        </p:spPr>
      </p:pic>
      <p:sp>
        <p:nvSpPr>
          <p:cNvPr id="28" name="TextBox 27"/>
          <p:cNvSpPr txBox="1"/>
          <p:nvPr/>
        </p:nvSpPr>
        <p:spPr>
          <a:xfrm>
            <a:off x="523875" y="428625"/>
            <a:ext cx="11668125" cy="369332"/>
          </a:xfrm>
          <a:prstGeom prst="rect">
            <a:avLst/>
          </a:prstGeom>
          <a:noFill/>
        </p:spPr>
        <p:txBody>
          <a:bodyPr wrap="square" lIns="0" tIns="0" rIns="0" bIns="0" anchor="t">
            <a:spAutoFit/>
          </a:bodyPr>
          <a:lstStyle/>
          <a:p>
            <a:pPr algn="l"/>
            <a:r>
              <a:rPr sz="2400" b="1" i="0" u="none" dirty="0">
                <a:solidFill>
                  <a:srgbClr val="0F172A"/>
                </a:solidFill>
                <a:latin typeface="Plus Jakarta Sans"/>
              </a:rPr>
              <a:t>Data Preparation &amp; Advanced SQL Techniques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19664"/>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1066800"/>
            <a:ext cx="11144250" cy="3276600"/>
          </a:xfrm>
          <a:prstGeom prst="rect">
            <a:avLst/>
          </a:prstGeom>
        </p:spPr>
      </p:pic>
      <p:pic>
        <p:nvPicPr>
          <p:cNvPr id="4" name="Picture 3" descr="image.png"/>
          <p:cNvPicPr>
            <a:picLocks noChangeAspect="1"/>
          </p:cNvPicPr>
          <p:nvPr/>
        </p:nvPicPr>
        <p:blipFill>
          <a:blip r:embed="rId4"/>
          <a:stretch>
            <a:fillRect/>
          </a:stretch>
        </p:blipFill>
        <p:spPr>
          <a:xfrm>
            <a:off x="523875" y="6400800"/>
            <a:ext cx="12192000" cy="285750"/>
          </a:xfrm>
          <a:prstGeom prst="rect">
            <a:avLst/>
          </a:prstGeom>
        </p:spPr>
      </p:pic>
      <p:sp>
        <p:nvSpPr>
          <p:cNvPr id="5" name="TextBox 4"/>
          <p:cNvSpPr txBox="1"/>
          <p:nvPr/>
        </p:nvSpPr>
        <p:spPr>
          <a:xfrm>
            <a:off x="523875" y="6524625"/>
            <a:ext cx="4293931" cy="246221"/>
          </a:xfrm>
          <a:prstGeom prst="rect">
            <a:avLst/>
          </a:prstGeom>
          <a:noFill/>
        </p:spPr>
        <p:txBody>
          <a:bodyPr wrap="square" lIns="0" tIns="0" rIns="0" bIns="0" anchor="t">
            <a:spAutoFit/>
          </a:bodyPr>
          <a:lstStyle/>
          <a:p>
            <a:pPr algn="l"/>
            <a:r>
              <a:rPr sz="1600" b="0" i="0" u="none" dirty="0">
                <a:solidFill>
                  <a:srgbClr val="64748B"/>
                </a:solidFill>
                <a:latin typeface="Inter Medium"/>
              </a:rPr>
              <a:t>Healthcare Admission &amp; Billing Cost Analysis</a:t>
            </a:r>
          </a:p>
        </p:txBody>
      </p:sp>
      <p:sp>
        <p:nvSpPr>
          <p:cNvPr id="6" name="TextBox 5"/>
          <p:cNvSpPr txBox="1"/>
          <p:nvPr/>
        </p:nvSpPr>
        <p:spPr>
          <a:xfrm>
            <a:off x="12268199" y="6524625"/>
            <a:ext cx="45719" cy="1477328"/>
          </a:xfrm>
          <a:prstGeom prst="rect">
            <a:avLst/>
          </a:prstGeom>
          <a:noFill/>
        </p:spPr>
        <p:txBody>
          <a:bodyPr wrap="square" lIns="0" tIns="0" rIns="0" bIns="0" anchor="t">
            <a:spAutoFit/>
          </a:bodyPr>
          <a:lstStyle/>
          <a:p>
            <a:pPr algn="l"/>
            <a:r>
              <a:rPr sz="1600" b="0" i="0" u="none">
                <a:solidFill>
                  <a:srgbClr val="64748B"/>
                </a:solidFill>
                <a:latin typeface="Inter Medium"/>
              </a:rPr>
              <a:t>Slide 6</a:t>
            </a:r>
          </a:p>
        </p:txBody>
      </p:sp>
      <p:sp>
        <p:nvSpPr>
          <p:cNvPr id="7" name="TextBox 6"/>
          <p:cNvSpPr txBox="1"/>
          <p:nvPr/>
        </p:nvSpPr>
        <p:spPr>
          <a:xfrm>
            <a:off x="523875" y="1464468"/>
            <a:ext cx="5429250" cy="228600"/>
          </a:xfrm>
          <a:prstGeom prst="rect">
            <a:avLst/>
          </a:prstGeom>
          <a:noFill/>
        </p:spPr>
        <p:txBody>
          <a:bodyPr wrap="square" lIns="0" tIns="0" rIns="0" bIns="0" anchor="t">
            <a:spAutoFit/>
          </a:bodyPr>
          <a:lstStyle/>
          <a:p>
            <a:pPr algn="l">
              <a:lnSpc>
                <a:spcPts val="1800"/>
              </a:lnSpc>
            </a:pPr>
            <a:r>
              <a:rPr sz="1600" b="1" i="0" u="none">
                <a:solidFill>
                  <a:srgbClr val="0EA5E9"/>
                </a:solidFill>
                <a:latin typeface="Inter"/>
              </a:rPr>
              <a:t>RESEARCH QUESTION 1</a:t>
            </a:r>
          </a:p>
        </p:txBody>
      </p:sp>
      <p:sp>
        <p:nvSpPr>
          <p:cNvPr id="8" name="TextBox 7"/>
          <p:cNvSpPr txBox="1"/>
          <p:nvPr/>
        </p:nvSpPr>
        <p:spPr>
          <a:xfrm>
            <a:off x="523875" y="1750218"/>
            <a:ext cx="5700712" cy="492443"/>
          </a:xfrm>
          <a:prstGeom prst="rect">
            <a:avLst/>
          </a:prstGeom>
          <a:noFill/>
        </p:spPr>
        <p:txBody>
          <a:bodyPr wrap="square" lIns="0" tIns="0" rIns="0" bIns="0" anchor="t">
            <a:spAutoFit/>
          </a:bodyPr>
          <a:lstStyle/>
          <a:p>
            <a:pPr algn="l"/>
            <a:r>
              <a:rPr sz="1600" b="1" i="0" u="none" dirty="0">
                <a:solidFill>
                  <a:srgbClr val="0F172A"/>
                </a:solidFill>
                <a:latin typeface="Plus Jakarta Sans"/>
              </a:rPr>
              <a:t>Which medical conditions generate highest cumulative billing totals?</a:t>
            </a:r>
          </a:p>
        </p:txBody>
      </p:sp>
      <p:sp>
        <p:nvSpPr>
          <p:cNvPr id="9" name="TextBox 8"/>
          <p:cNvSpPr txBox="1"/>
          <p:nvPr/>
        </p:nvSpPr>
        <p:spPr>
          <a:xfrm>
            <a:off x="523875" y="2455068"/>
            <a:ext cx="5429250" cy="542925"/>
          </a:xfrm>
          <a:prstGeom prst="rect">
            <a:avLst/>
          </a:prstGeom>
          <a:noFill/>
        </p:spPr>
        <p:txBody>
          <a:bodyPr wrap="square" lIns="0" tIns="0" rIns="0" bIns="0" anchor="t">
            <a:spAutoFit/>
          </a:bodyPr>
          <a:lstStyle/>
          <a:p>
            <a:pPr algn="l">
              <a:lnSpc>
                <a:spcPts val="2137"/>
              </a:lnSpc>
            </a:pPr>
            <a:r>
              <a:rPr sz="1600" b="1" i="0" u="none">
                <a:solidFill>
                  <a:srgbClr val="1E293B"/>
                </a:solidFill>
                <a:latin typeface="Inter"/>
              </a:rPr>
              <a:t>Key Finding:</a:t>
            </a:r>
            <a:r>
              <a:rPr sz="1600" b="0" i="0" u="none">
                <a:solidFill>
                  <a:srgbClr val="1E293B"/>
                </a:solidFill>
                <a:latin typeface="Inter"/>
              </a:rPr>
              <a:t> Conditions like </a:t>
            </a:r>
            <a:r>
              <a:rPr sz="1600" b="1" i="0" u="none">
                <a:solidFill>
                  <a:srgbClr val="1E293B"/>
                </a:solidFill>
                <a:latin typeface="Inter"/>
              </a:rPr>
              <a:t>Hypertension</a:t>
            </a:r>
            <a:r>
              <a:rPr sz="1600" b="0" i="0" u="none">
                <a:solidFill>
                  <a:srgbClr val="1E293B"/>
                </a:solidFill>
                <a:latin typeface="Inter"/>
              </a:rPr>
              <a:t> and </a:t>
            </a:r>
            <a:r>
              <a:rPr sz="1600" b="1" i="0" u="none">
                <a:solidFill>
                  <a:srgbClr val="1E293B"/>
                </a:solidFill>
                <a:latin typeface="Inter"/>
              </a:rPr>
              <a:t>Asthma</a:t>
            </a:r>
            <a:r>
              <a:rPr sz="1600" b="0" i="0" u="none">
                <a:solidFill>
                  <a:srgbClr val="1E293B"/>
                </a:solidFill>
                <a:latin typeface="Inter"/>
              </a:rPr>
              <a:t> lead overall hospital billing, each exceeding $3.0M in total revenue.</a:t>
            </a:r>
          </a:p>
        </p:txBody>
      </p:sp>
      <p:sp>
        <p:nvSpPr>
          <p:cNvPr id="10" name="TextBox 9"/>
          <p:cNvSpPr txBox="1"/>
          <p:nvPr/>
        </p:nvSpPr>
        <p:spPr>
          <a:xfrm>
            <a:off x="523875" y="3131343"/>
            <a:ext cx="5429250" cy="814387"/>
          </a:xfrm>
          <a:prstGeom prst="rect">
            <a:avLst/>
          </a:prstGeom>
          <a:noFill/>
        </p:spPr>
        <p:txBody>
          <a:bodyPr wrap="square" lIns="0" tIns="0" rIns="0" bIns="0" anchor="t">
            <a:spAutoFit/>
          </a:bodyPr>
          <a:lstStyle/>
          <a:p>
            <a:pPr algn="l">
              <a:lnSpc>
                <a:spcPts val="2137"/>
              </a:lnSpc>
            </a:pPr>
            <a:r>
              <a:rPr sz="1600" b="1" i="0" u="none" dirty="0">
                <a:solidFill>
                  <a:srgbClr val="1E293B"/>
                </a:solidFill>
                <a:latin typeface="Inter"/>
              </a:rPr>
              <a:t>Takeaway:</a:t>
            </a:r>
            <a:r>
              <a:rPr sz="1600" b="0" i="0" u="none" dirty="0">
                <a:solidFill>
                  <a:srgbClr val="1E293B"/>
                </a:solidFill>
                <a:latin typeface="Inter"/>
              </a:rPr>
              <a:t> High total cost is driven primarily by large patient admission volume and ongoing chronic care rather than single high-cost surgical procedures.</a:t>
            </a:r>
          </a:p>
        </p:txBody>
      </p:sp>
      <p:sp>
        <p:nvSpPr>
          <p:cNvPr id="11" name="TextBox 10"/>
          <p:cNvSpPr txBox="1"/>
          <p:nvPr/>
        </p:nvSpPr>
        <p:spPr>
          <a:xfrm>
            <a:off x="523875" y="428625"/>
            <a:ext cx="11668125" cy="553998"/>
          </a:xfrm>
          <a:prstGeom prst="rect">
            <a:avLst/>
          </a:prstGeom>
          <a:noFill/>
        </p:spPr>
        <p:txBody>
          <a:bodyPr wrap="square" lIns="0" tIns="0" rIns="0" bIns="0" anchor="t">
            <a:spAutoFit/>
          </a:bodyPr>
          <a:lstStyle/>
          <a:p>
            <a:pPr algn="l"/>
            <a:r>
              <a:rPr sz="3600" b="1" i="0" u="none" dirty="0">
                <a:solidFill>
                  <a:srgbClr val="0F172A"/>
                </a:solidFill>
                <a:latin typeface="Plus Jakarta Sans"/>
              </a:rPr>
              <a:t>Medical Condition Billing Analysis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1066800"/>
            <a:ext cx="11144250" cy="3590925"/>
          </a:xfrm>
          <a:prstGeom prst="rect">
            <a:avLst/>
          </a:prstGeom>
        </p:spPr>
      </p:pic>
      <p:pic>
        <p:nvPicPr>
          <p:cNvPr id="4" name="Picture 3" descr="image.png"/>
          <p:cNvPicPr>
            <a:picLocks noChangeAspect="1"/>
          </p:cNvPicPr>
          <p:nvPr/>
        </p:nvPicPr>
        <p:blipFill>
          <a:blip r:embed="rId4"/>
          <a:stretch>
            <a:fillRect/>
          </a:stretch>
        </p:blipFill>
        <p:spPr>
          <a:xfrm>
            <a:off x="523875" y="2057400"/>
            <a:ext cx="5429250" cy="790575"/>
          </a:xfrm>
          <a:prstGeom prst="rect">
            <a:avLst/>
          </a:prstGeom>
        </p:spPr>
      </p:pic>
      <p:pic>
        <p:nvPicPr>
          <p:cNvPr id="5" name="Picture 4" descr="image.png"/>
          <p:cNvPicPr>
            <a:picLocks noChangeAspect="1"/>
          </p:cNvPicPr>
          <p:nvPr/>
        </p:nvPicPr>
        <p:blipFill>
          <a:blip r:embed="rId5"/>
          <a:stretch>
            <a:fillRect/>
          </a:stretch>
        </p:blipFill>
        <p:spPr>
          <a:xfrm>
            <a:off x="523875" y="2962275"/>
            <a:ext cx="5429250" cy="790575"/>
          </a:xfrm>
          <a:prstGeom prst="rect">
            <a:avLst/>
          </a:prstGeom>
        </p:spPr>
      </p:pic>
      <p:pic>
        <p:nvPicPr>
          <p:cNvPr id="6" name="Picture 5" descr="image.png"/>
          <p:cNvPicPr>
            <a:picLocks noChangeAspect="1"/>
          </p:cNvPicPr>
          <p:nvPr/>
        </p:nvPicPr>
        <p:blipFill>
          <a:blip r:embed="rId6"/>
          <a:stretch>
            <a:fillRect/>
          </a:stretch>
        </p:blipFill>
        <p:spPr>
          <a:xfrm>
            <a:off x="523875" y="3867150"/>
            <a:ext cx="5429250" cy="790575"/>
          </a:xfrm>
          <a:prstGeom prst="rect">
            <a:avLst/>
          </a:prstGeom>
        </p:spPr>
      </p:pic>
      <p:pic>
        <p:nvPicPr>
          <p:cNvPr id="7" name="Picture 6" descr="image.png"/>
          <p:cNvPicPr>
            <a:picLocks noChangeAspect="1"/>
          </p:cNvPicPr>
          <p:nvPr/>
        </p:nvPicPr>
        <p:blipFill>
          <a:blip r:embed="rId7"/>
          <a:stretch>
            <a:fillRect/>
          </a:stretch>
        </p:blipFill>
        <p:spPr>
          <a:xfrm>
            <a:off x="523875" y="6400800"/>
            <a:ext cx="12192000" cy="285750"/>
          </a:xfrm>
          <a:prstGeom prst="rect">
            <a:avLst/>
          </a:prstGeom>
        </p:spPr>
      </p:pic>
      <p:sp>
        <p:nvSpPr>
          <p:cNvPr id="8" name="TextBox 7"/>
          <p:cNvSpPr txBox="1"/>
          <p:nvPr/>
        </p:nvSpPr>
        <p:spPr>
          <a:xfrm>
            <a:off x="523875" y="6524625"/>
            <a:ext cx="2886075" cy="161925"/>
          </a:xfrm>
          <a:prstGeom prst="rect">
            <a:avLst/>
          </a:prstGeom>
          <a:noFill/>
        </p:spPr>
        <p:txBody>
          <a:bodyPr wrap="square" lIns="0" tIns="0" rIns="0" bIns="0" anchor="t">
            <a:spAutoFit/>
          </a:bodyPr>
          <a:lstStyle/>
          <a:p>
            <a:pPr algn="l"/>
            <a:r>
              <a:rPr sz="1050" b="0" i="0" u="none">
                <a:solidFill>
                  <a:srgbClr val="64748B"/>
                </a:solidFill>
                <a:latin typeface="Inter Medium"/>
              </a:rPr>
              <a:t>Healthcare Admission &amp; Billing Cost Analysis</a:t>
            </a:r>
          </a:p>
        </p:txBody>
      </p:sp>
      <p:sp>
        <p:nvSpPr>
          <p:cNvPr id="9" name="TextBox 8"/>
          <p:cNvSpPr txBox="1"/>
          <p:nvPr/>
        </p:nvSpPr>
        <p:spPr>
          <a:xfrm>
            <a:off x="12277725" y="6524625"/>
            <a:ext cx="0" cy="161925"/>
          </a:xfrm>
          <a:prstGeom prst="rect">
            <a:avLst/>
          </a:prstGeom>
          <a:noFill/>
        </p:spPr>
        <p:txBody>
          <a:bodyPr wrap="square" lIns="0" tIns="0" rIns="0" bIns="0" anchor="t">
            <a:spAutoFit/>
          </a:bodyPr>
          <a:lstStyle/>
          <a:p>
            <a:pPr algn="l"/>
            <a:r>
              <a:rPr sz="1050" b="0" i="0" u="none" dirty="0">
                <a:solidFill>
                  <a:srgbClr val="64748B"/>
                </a:solidFill>
                <a:latin typeface="Inter Medium"/>
              </a:rPr>
              <a:t>Slide 7</a:t>
            </a:r>
          </a:p>
        </p:txBody>
      </p:sp>
      <p:sp>
        <p:nvSpPr>
          <p:cNvPr id="10" name="TextBox 9"/>
          <p:cNvSpPr txBox="1"/>
          <p:nvPr/>
        </p:nvSpPr>
        <p:spPr>
          <a:xfrm>
            <a:off x="523875" y="1066800"/>
            <a:ext cx="5429250" cy="228600"/>
          </a:xfrm>
          <a:prstGeom prst="rect">
            <a:avLst/>
          </a:prstGeom>
          <a:noFill/>
        </p:spPr>
        <p:txBody>
          <a:bodyPr wrap="square" lIns="0" tIns="0" rIns="0" bIns="0" anchor="t">
            <a:spAutoFit/>
          </a:bodyPr>
          <a:lstStyle/>
          <a:p>
            <a:pPr algn="l">
              <a:lnSpc>
                <a:spcPts val="1800"/>
              </a:lnSpc>
            </a:pPr>
            <a:r>
              <a:rPr sz="1200" b="1" i="0" u="none">
                <a:solidFill>
                  <a:srgbClr val="0EA5E9"/>
                </a:solidFill>
                <a:latin typeface="Inter"/>
              </a:rPr>
              <a:t>RESEARCH QUESTION 2</a:t>
            </a:r>
          </a:p>
        </p:txBody>
      </p:sp>
      <p:sp>
        <p:nvSpPr>
          <p:cNvPr id="11" name="TextBox 10"/>
          <p:cNvSpPr txBox="1"/>
          <p:nvPr/>
        </p:nvSpPr>
        <p:spPr>
          <a:xfrm>
            <a:off x="523875" y="1352550"/>
            <a:ext cx="5700712" cy="571500"/>
          </a:xfrm>
          <a:prstGeom prst="rect">
            <a:avLst/>
          </a:prstGeom>
          <a:noFill/>
        </p:spPr>
        <p:txBody>
          <a:bodyPr wrap="square" lIns="0" tIns="0" rIns="0" bIns="0" anchor="t">
            <a:spAutoFit/>
          </a:bodyPr>
          <a:lstStyle/>
          <a:p>
            <a:pPr algn="l"/>
            <a:r>
              <a:rPr sz="1800" b="1" i="0" u="none">
                <a:solidFill>
                  <a:srgbClr val="0F172A"/>
                </a:solidFill>
                <a:latin typeface="Plus Jakarta Sans"/>
              </a:rPr>
              <a:t>How do billing amounts and length of stay vary by admission type?</a:t>
            </a:r>
          </a:p>
        </p:txBody>
      </p:sp>
      <p:sp>
        <p:nvSpPr>
          <p:cNvPr id="12" name="TextBox 11"/>
          <p:cNvSpPr txBox="1"/>
          <p:nvPr/>
        </p:nvSpPr>
        <p:spPr>
          <a:xfrm>
            <a:off x="752475" y="2219325"/>
            <a:ext cx="5019675" cy="180975"/>
          </a:xfrm>
          <a:prstGeom prst="rect">
            <a:avLst/>
          </a:prstGeom>
          <a:noFill/>
        </p:spPr>
        <p:txBody>
          <a:bodyPr wrap="square" lIns="0" tIns="0" rIns="0" bIns="0" anchor="t">
            <a:spAutoFit/>
          </a:bodyPr>
          <a:lstStyle/>
          <a:p>
            <a:pPr algn="l"/>
            <a:r>
              <a:rPr sz="1125" b="1" i="0" u="none">
                <a:solidFill>
                  <a:srgbClr val="475569"/>
                </a:solidFill>
                <a:latin typeface="Inter"/>
              </a:rPr>
              <a:t>Urgent Care Cases</a:t>
            </a:r>
          </a:p>
        </p:txBody>
      </p:sp>
      <p:sp>
        <p:nvSpPr>
          <p:cNvPr id="13" name="TextBox 12"/>
          <p:cNvSpPr txBox="1"/>
          <p:nvPr/>
        </p:nvSpPr>
        <p:spPr>
          <a:xfrm>
            <a:off x="752475" y="2438400"/>
            <a:ext cx="5019675" cy="247650"/>
          </a:xfrm>
          <a:prstGeom prst="rect">
            <a:avLst/>
          </a:prstGeom>
          <a:noFill/>
        </p:spPr>
        <p:txBody>
          <a:bodyPr wrap="square" lIns="0" tIns="0" rIns="0" bIns="0" anchor="t">
            <a:spAutoFit/>
          </a:bodyPr>
          <a:lstStyle/>
          <a:p>
            <a:pPr algn="l"/>
            <a:r>
              <a:rPr sz="1650" b="1" i="0" u="none">
                <a:solidFill>
                  <a:srgbClr val="D97706"/>
                </a:solidFill>
                <a:latin typeface="Inter"/>
              </a:rPr>
              <a:t>$29,626 </a:t>
            </a:r>
            <a:r>
              <a:rPr sz="1650" b="0" i="0" u="none">
                <a:solidFill>
                  <a:srgbClr val="1E293B"/>
                </a:solidFill>
                <a:latin typeface="Inter Medium"/>
              </a:rPr>
              <a:t>(15.1 Days Stay)</a:t>
            </a:r>
          </a:p>
        </p:txBody>
      </p:sp>
      <p:sp>
        <p:nvSpPr>
          <p:cNvPr id="14" name="TextBox 13"/>
          <p:cNvSpPr txBox="1"/>
          <p:nvPr/>
        </p:nvSpPr>
        <p:spPr>
          <a:xfrm>
            <a:off x="752475" y="3124200"/>
            <a:ext cx="5019675" cy="180975"/>
          </a:xfrm>
          <a:prstGeom prst="rect">
            <a:avLst/>
          </a:prstGeom>
          <a:noFill/>
        </p:spPr>
        <p:txBody>
          <a:bodyPr wrap="square" lIns="0" tIns="0" rIns="0" bIns="0" anchor="t">
            <a:spAutoFit/>
          </a:bodyPr>
          <a:lstStyle/>
          <a:p>
            <a:pPr algn="l"/>
            <a:r>
              <a:rPr sz="1125" b="1" i="0" u="none">
                <a:solidFill>
                  <a:srgbClr val="475569"/>
                </a:solidFill>
                <a:latin typeface="Inter"/>
              </a:rPr>
              <a:t>Emergency Admissions</a:t>
            </a:r>
          </a:p>
        </p:txBody>
      </p:sp>
      <p:sp>
        <p:nvSpPr>
          <p:cNvPr id="15" name="TextBox 14"/>
          <p:cNvSpPr txBox="1"/>
          <p:nvPr/>
        </p:nvSpPr>
        <p:spPr>
          <a:xfrm>
            <a:off x="752475" y="3343275"/>
            <a:ext cx="5019675" cy="247650"/>
          </a:xfrm>
          <a:prstGeom prst="rect">
            <a:avLst/>
          </a:prstGeom>
          <a:noFill/>
        </p:spPr>
        <p:txBody>
          <a:bodyPr wrap="square" lIns="0" tIns="0" rIns="0" bIns="0" anchor="t">
            <a:spAutoFit/>
          </a:bodyPr>
          <a:lstStyle/>
          <a:p>
            <a:pPr algn="l"/>
            <a:r>
              <a:rPr sz="1650" b="1" i="0" u="none">
                <a:solidFill>
                  <a:srgbClr val="0284C7"/>
                </a:solidFill>
                <a:latin typeface="Inter"/>
              </a:rPr>
              <a:t>$27,150 </a:t>
            </a:r>
            <a:r>
              <a:rPr sz="1650" b="0" i="0" u="none">
                <a:solidFill>
                  <a:srgbClr val="1E293B"/>
                </a:solidFill>
                <a:latin typeface="Inter Medium"/>
              </a:rPr>
              <a:t>(12.4 Days Stay)</a:t>
            </a:r>
          </a:p>
        </p:txBody>
      </p:sp>
      <p:sp>
        <p:nvSpPr>
          <p:cNvPr id="16" name="TextBox 15"/>
          <p:cNvSpPr txBox="1"/>
          <p:nvPr/>
        </p:nvSpPr>
        <p:spPr>
          <a:xfrm>
            <a:off x="752475" y="4029075"/>
            <a:ext cx="5019675" cy="180975"/>
          </a:xfrm>
          <a:prstGeom prst="rect">
            <a:avLst/>
          </a:prstGeom>
          <a:noFill/>
        </p:spPr>
        <p:txBody>
          <a:bodyPr wrap="square" lIns="0" tIns="0" rIns="0" bIns="0" anchor="t">
            <a:spAutoFit/>
          </a:bodyPr>
          <a:lstStyle/>
          <a:p>
            <a:pPr algn="l"/>
            <a:r>
              <a:rPr sz="1125" b="1" i="0" u="none">
                <a:solidFill>
                  <a:srgbClr val="475569"/>
                </a:solidFill>
                <a:latin typeface="Inter"/>
              </a:rPr>
              <a:t>Elective Admissions</a:t>
            </a:r>
          </a:p>
        </p:txBody>
      </p:sp>
      <p:sp>
        <p:nvSpPr>
          <p:cNvPr id="17" name="TextBox 16"/>
          <p:cNvSpPr txBox="1"/>
          <p:nvPr/>
        </p:nvSpPr>
        <p:spPr>
          <a:xfrm>
            <a:off x="752475" y="4248150"/>
            <a:ext cx="5019675" cy="247650"/>
          </a:xfrm>
          <a:prstGeom prst="rect">
            <a:avLst/>
          </a:prstGeom>
          <a:noFill/>
        </p:spPr>
        <p:txBody>
          <a:bodyPr wrap="square" lIns="0" tIns="0" rIns="0" bIns="0" anchor="t">
            <a:spAutoFit/>
          </a:bodyPr>
          <a:lstStyle/>
          <a:p>
            <a:pPr algn="l"/>
            <a:r>
              <a:rPr sz="1650" b="1" i="0" u="none">
                <a:solidFill>
                  <a:srgbClr val="059669"/>
                </a:solidFill>
                <a:latin typeface="Inter"/>
              </a:rPr>
              <a:t>$25,988 </a:t>
            </a:r>
            <a:r>
              <a:rPr sz="1650" b="0" i="0" u="none">
                <a:solidFill>
                  <a:srgbClr val="1E293B"/>
                </a:solidFill>
                <a:latin typeface="Inter Medium"/>
              </a:rPr>
              <a:t>(9.8 Days Stay)</a:t>
            </a:r>
          </a:p>
        </p:txBody>
      </p:sp>
      <p:sp>
        <p:nvSpPr>
          <p:cNvPr id="18" name="TextBox 17"/>
          <p:cNvSpPr txBox="1"/>
          <p:nvPr/>
        </p:nvSpPr>
        <p:spPr>
          <a:xfrm>
            <a:off x="523875" y="428625"/>
            <a:ext cx="11668125" cy="447675"/>
          </a:xfrm>
          <a:prstGeom prst="rect">
            <a:avLst/>
          </a:prstGeom>
          <a:noFill/>
        </p:spPr>
        <p:txBody>
          <a:bodyPr wrap="square" lIns="0" tIns="0" rIns="0" bIns="0" anchor="t">
            <a:spAutoFit/>
          </a:bodyPr>
          <a:lstStyle/>
          <a:p>
            <a:pPr algn="l"/>
            <a:r>
              <a:rPr sz="2850" b="1" i="0" u="none">
                <a:solidFill>
                  <a:srgbClr val="0F172A"/>
                </a:solidFill>
                <a:latin typeface="Plus Jakarta Sans"/>
              </a:rPr>
              <a:t>Admission Type Cost &amp; Stay Analysis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1066800"/>
            <a:ext cx="11144250" cy="3219450"/>
          </a:xfrm>
          <a:prstGeom prst="rect">
            <a:avLst/>
          </a:prstGeom>
        </p:spPr>
      </p:pic>
      <p:pic>
        <p:nvPicPr>
          <p:cNvPr id="4" name="Picture 3" descr="image.png"/>
          <p:cNvPicPr>
            <a:picLocks noChangeAspect="1"/>
          </p:cNvPicPr>
          <p:nvPr/>
        </p:nvPicPr>
        <p:blipFill>
          <a:blip r:embed="rId4"/>
          <a:stretch>
            <a:fillRect/>
          </a:stretch>
        </p:blipFill>
        <p:spPr>
          <a:xfrm>
            <a:off x="523875" y="2057400"/>
            <a:ext cx="5429250" cy="1057275"/>
          </a:xfrm>
          <a:prstGeom prst="rect">
            <a:avLst/>
          </a:prstGeom>
        </p:spPr>
      </p:pic>
      <p:pic>
        <p:nvPicPr>
          <p:cNvPr id="5" name="Picture 4" descr="image.png"/>
          <p:cNvPicPr>
            <a:picLocks noChangeAspect="1"/>
          </p:cNvPicPr>
          <p:nvPr/>
        </p:nvPicPr>
        <p:blipFill>
          <a:blip r:embed="rId5"/>
          <a:stretch>
            <a:fillRect/>
          </a:stretch>
        </p:blipFill>
        <p:spPr>
          <a:xfrm>
            <a:off x="523875" y="3228975"/>
            <a:ext cx="5429250" cy="1057275"/>
          </a:xfrm>
          <a:prstGeom prst="rect">
            <a:avLst/>
          </a:prstGeom>
        </p:spPr>
      </p:pic>
      <p:pic>
        <p:nvPicPr>
          <p:cNvPr id="6" name="Picture 5" descr="image.png"/>
          <p:cNvPicPr>
            <a:picLocks noChangeAspect="1"/>
          </p:cNvPicPr>
          <p:nvPr/>
        </p:nvPicPr>
        <p:blipFill>
          <a:blip r:embed="rId6"/>
          <a:stretch>
            <a:fillRect/>
          </a:stretch>
        </p:blipFill>
        <p:spPr>
          <a:xfrm>
            <a:off x="523875" y="6400800"/>
            <a:ext cx="12192000" cy="285750"/>
          </a:xfrm>
          <a:prstGeom prst="rect">
            <a:avLst/>
          </a:prstGeom>
        </p:spPr>
      </p:pic>
      <p:sp>
        <p:nvSpPr>
          <p:cNvPr id="7" name="TextBox 6"/>
          <p:cNvSpPr txBox="1"/>
          <p:nvPr/>
        </p:nvSpPr>
        <p:spPr>
          <a:xfrm>
            <a:off x="523875" y="6524625"/>
            <a:ext cx="2886075" cy="161925"/>
          </a:xfrm>
          <a:prstGeom prst="rect">
            <a:avLst/>
          </a:prstGeom>
          <a:noFill/>
        </p:spPr>
        <p:txBody>
          <a:bodyPr wrap="square" lIns="0" tIns="0" rIns="0" bIns="0" anchor="t">
            <a:spAutoFit/>
          </a:bodyPr>
          <a:lstStyle/>
          <a:p>
            <a:pPr algn="l"/>
            <a:r>
              <a:rPr sz="1050" b="0" i="0" u="none">
                <a:solidFill>
                  <a:srgbClr val="64748B"/>
                </a:solidFill>
                <a:latin typeface="Inter Medium"/>
              </a:rPr>
              <a:t>Healthcare Admission &amp; Billing Cost Analysis</a:t>
            </a:r>
          </a:p>
        </p:txBody>
      </p:sp>
      <p:sp>
        <p:nvSpPr>
          <p:cNvPr id="8" name="TextBox 7"/>
          <p:cNvSpPr txBox="1"/>
          <p:nvPr/>
        </p:nvSpPr>
        <p:spPr>
          <a:xfrm>
            <a:off x="12268200" y="6524625"/>
            <a:ext cx="0" cy="161925"/>
          </a:xfrm>
          <a:prstGeom prst="rect">
            <a:avLst/>
          </a:prstGeom>
          <a:noFill/>
        </p:spPr>
        <p:txBody>
          <a:bodyPr wrap="square" lIns="0" tIns="0" rIns="0" bIns="0" anchor="t">
            <a:spAutoFit/>
          </a:bodyPr>
          <a:lstStyle/>
          <a:p>
            <a:pPr algn="l"/>
            <a:r>
              <a:rPr sz="1050" b="0" i="0" u="none">
                <a:solidFill>
                  <a:srgbClr val="64748B"/>
                </a:solidFill>
                <a:latin typeface="Inter Medium"/>
              </a:rPr>
              <a:t>Slide 8</a:t>
            </a:r>
          </a:p>
        </p:txBody>
      </p:sp>
      <p:sp>
        <p:nvSpPr>
          <p:cNvPr id="9" name="TextBox 8"/>
          <p:cNvSpPr txBox="1"/>
          <p:nvPr/>
        </p:nvSpPr>
        <p:spPr>
          <a:xfrm>
            <a:off x="523875" y="1066800"/>
            <a:ext cx="5429250" cy="228600"/>
          </a:xfrm>
          <a:prstGeom prst="rect">
            <a:avLst/>
          </a:prstGeom>
          <a:noFill/>
        </p:spPr>
        <p:txBody>
          <a:bodyPr wrap="square" lIns="0" tIns="0" rIns="0" bIns="0" anchor="t">
            <a:spAutoFit/>
          </a:bodyPr>
          <a:lstStyle/>
          <a:p>
            <a:pPr algn="l">
              <a:lnSpc>
                <a:spcPts val="1800"/>
              </a:lnSpc>
            </a:pPr>
            <a:r>
              <a:rPr sz="1200" b="1" i="0" u="none">
                <a:solidFill>
                  <a:srgbClr val="0EA5E9"/>
                </a:solidFill>
                <a:latin typeface="Inter"/>
              </a:rPr>
              <a:t>RESEARCH QUESTION 3</a:t>
            </a:r>
          </a:p>
        </p:txBody>
      </p:sp>
      <p:sp>
        <p:nvSpPr>
          <p:cNvPr id="10" name="TextBox 9"/>
          <p:cNvSpPr txBox="1"/>
          <p:nvPr/>
        </p:nvSpPr>
        <p:spPr>
          <a:xfrm>
            <a:off x="523875" y="1352550"/>
            <a:ext cx="5700712" cy="571500"/>
          </a:xfrm>
          <a:prstGeom prst="rect">
            <a:avLst/>
          </a:prstGeom>
          <a:noFill/>
        </p:spPr>
        <p:txBody>
          <a:bodyPr wrap="square" lIns="0" tIns="0" rIns="0" bIns="0" anchor="t">
            <a:spAutoFit/>
          </a:bodyPr>
          <a:lstStyle/>
          <a:p>
            <a:pPr algn="l"/>
            <a:r>
              <a:rPr sz="1800" b="1" i="0" u="none">
                <a:solidFill>
                  <a:srgbClr val="0F172A"/>
                </a:solidFill>
                <a:latin typeface="Plus Jakarta Sans"/>
              </a:rPr>
              <a:t>Which hospitals show higher average billing and longer stays?</a:t>
            </a:r>
          </a:p>
        </p:txBody>
      </p:sp>
      <p:sp>
        <p:nvSpPr>
          <p:cNvPr id="11" name="TextBox 10"/>
          <p:cNvSpPr txBox="1"/>
          <p:nvPr/>
        </p:nvSpPr>
        <p:spPr>
          <a:xfrm>
            <a:off x="752475" y="2219325"/>
            <a:ext cx="5019675" cy="266700"/>
          </a:xfrm>
          <a:prstGeom prst="rect">
            <a:avLst/>
          </a:prstGeom>
          <a:noFill/>
        </p:spPr>
        <p:txBody>
          <a:bodyPr wrap="square" lIns="0" tIns="0" rIns="0" bIns="0" anchor="t">
            <a:spAutoFit/>
          </a:bodyPr>
          <a:lstStyle/>
          <a:p>
            <a:pPr algn="l"/>
            <a:r>
              <a:rPr sz="1650" b="1" i="0" u="none">
                <a:solidFill>
                  <a:srgbClr val="0F172A"/>
                </a:solidFill>
                <a:latin typeface="Plus Jakarta Sans"/>
              </a:rPr>
              <a:t>19.5 Days (Ross LLC)</a:t>
            </a:r>
          </a:p>
        </p:txBody>
      </p:sp>
      <p:sp>
        <p:nvSpPr>
          <p:cNvPr id="12" name="TextBox 11"/>
          <p:cNvSpPr txBox="1"/>
          <p:nvPr/>
        </p:nvSpPr>
        <p:spPr>
          <a:xfrm>
            <a:off x="752475" y="2524125"/>
            <a:ext cx="5019675" cy="180975"/>
          </a:xfrm>
          <a:prstGeom prst="rect">
            <a:avLst/>
          </a:prstGeom>
          <a:noFill/>
        </p:spPr>
        <p:txBody>
          <a:bodyPr wrap="square" lIns="0" tIns="0" rIns="0" bIns="0" anchor="t">
            <a:spAutoFit/>
          </a:bodyPr>
          <a:lstStyle/>
          <a:p>
            <a:pPr algn="l"/>
            <a:r>
              <a:rPr sz="1125" b="1" i="0" u="none">
                <a:solidFill>
                  <a:srgbClr val="334155"/>
                </a:solidFill>
                <a:latin typeface="Inter"/>
              </a:rPr>
              <a:t>Stay Duration Outlier</a:t>
            </a:r>
          </a:p>
        </p:txBody>
      </p:sp>
      <p:sp>
        <p:nvSpPr>
          <p:cNvPr id="13" name="TextBox 12"/>
          <p:cNvSpPr txBox="1"/>
          <p:nvPr/>
        </p:nvSpPr>
        <p:spPr>
          <a:xfrm>
            <a:off x="752475" y="2762250"/>
            <a:ext cx="5343525" cy="215444"/>
          </a:xfrm>
          <a:prstGeom prst="rect">
            <a:avLst/>
          </a:prstGeom>
          <a:noFill/>
        </p:spPr>
        <p:txBody>
          <a:bodyPr wrap="square" lIns="0" tIns="0" rIns="0" bIns="0" anchor="t">
            <a:spAutoFit/>
          </a:bodyPr>
          <a:lstStyle/>
          <a:p>
            <a:pPr algn="l"/>
            <a:r>
              <a:rPr sz="1400" b="0" i="0" u="none" dirty="0">
                <a:solidFill>
                  <a:srgbClr val="475569"/>
                </a:solidFill>
                <a:latin typeface="Inter"/>
              </a:rPr>
              <a:t>Significantly higher than the standard 10–14 day peer facility average.</a:t>
            </a:r>
          </a:p>
        </p:txBody>
      </p:sp>
      <p:sp>
        <p:nvSpPr>
          <p:cNvPr id="14" name="TextBox 13"/>
          <p:cNvSpPr txBox="1"/>
          <p:nvPr/>
        </p:nvSpPr>
        <p:spPr>
          <a:xfrm>
            <a:off x="752475" y="3390900"/>
            <a:ext cx="5019675" cy="266700"/>
          </a:xfrm>
          <a:prstGeom prst="rect">
            <a:avLst/>
          </a:prstGeom>
          <a:noFill/>
        </p:spPr>
        <p:txBody>
          <a:bodyPr wrap="square" lIns="0" tIns="0" rIns="0" bIns="0" anchor="t">
            <a:spAutoFit/>
          </a:bodyPr>
          <a:lstStyle/>
          <a:p>
            <a:pPr algn="l"/>
            <a:r>
              <a:rPr sz="1650" b="1" i="0" u="none">
                <a:solidFill>
                  <a:srgbClr val="0F172A"/>
                </a:solidFill>
                <a:latin typeface="Plus Jakarta Sans"/>
              </a:rPr>
              <a:t>$30,658 (Davis Group)</a:t>
            </a:r>
          </a:p>
        </p:txBody>
      </p:sp>
      <p:sp>
        <p:nvSpPr>
          <p:cNvPr id="15" name="TextBox 14"/>
          <p:cNvSpPr txBox="1"/>
          <p:nvPr/>
        </p:nvSpPr>
        <p:spPr>
          <a:xfrm>
            <a:off x="752475" y="3695700"/>
            <a:ext cx="5019675" cy="180975"/>
          </a:xfrm>
          <a:prstGeom prst="rect">
            <a:avLst/>
          </a:prstGeom>
          <a:noFill/>
        </p:spPr>
        <p:txBody>
          <a:bodyPr wrap="square" lIns="0" tIns="0" rIns="0" bIns="0" anchor="t">
            <a:spAutoFit/>
          </a:bodyPr>
          <a:lstStyle/>
          <a:p>
            <a:pPr algn="l"/>
            <a:r>
              <a:rPr sz="1125" b="1" i="0" u="none" dirty="0">
                <a:solidFill>
                  <a:srgbClr val="334155"/>
                </a:solidFill>
                <a:latin typeface="Inter"/>
              </a:rPr>
              <a:t>Peak Pricing Outlier</a:t>
            </a:r>
          </a:p>
        </p:txBody>
      </p:sp>
      <p:sp>
        <p:nvSpPr>
          <p:cNvPr id="16" name="TextBox 15"/>
          <p:cNvSpPr txBox="1"/>
          <p:nvPr/>
        </p:nvSpPr>
        <p:spPr>
          <a:xfrm>
            <a:off x="752475" y="3933825"/>
            <a:ext cx="5019675" cy="215444"/>
          </a:xfrm>
          <a:prstGeom prst="rect">
            <a:avLst/>
          </a:prstGeom>
          <a:noFill/>
        </p:spPr>
        <p:txBody>
          <a:bodyPr wrap="square" lIns="0" tIns="0" rIns="0" bIns="0" anchor="t">
            <a:spAutoFit/>
          </a:bodyPr>
          <a:lstStyle/>
          <a:p>
            <a:pPr algn="l"/>
            <a:r>
              <a:rPr sz="1400" b="0" i="0" u="none" dirty="0">
                <a:solidFill>
                  <a:srgbClr val="475569"/>
                </a:solidFill>
                <a:latin typeface="Inter"/>
              </a:rPr>
              <a:t>Ranks highest in average billing cost among top hospital networks.</a:t>
            </a:r>
          </a:p>
        </p:txBody>
      </p:sp>
      <p:sp>
        <p:nvSpPr>
          <p:cNvPr id="17" name="TextBox 16"/>
          <p:cNvSpPr txBox="1"/>
          <p:nvPr/>
        </p:nvSpPr>
        <p:spPr>
          <a:xfrm>
            <a:off x="523875" y="428625"/>
            <a:ext cx="11668125" cy="447675"/>
          </a:xfrm>
          <a:prstGeom prst="rect">
            <a:avLst/>
          </a:prstGeom>
          <a:noFill/>
        </p:spPr>
        <p:txBody>
          <a:bodyPr wrap="square" lIns="0" tIns="0" rIns="0" bIns="0" anchor="t">
            <a:spAutoFit/>
          </a:bodyPr>
          <a:lstStyle/>
          <a:p>
            <a:pPr algn="l"/>
            <a:r>
              <a:rPr sz="2850" b="1" i="0" u="none">
                <a:solidFill>
                  <a:srgbClr val="0F172A"/>
                </a:solidFill>
                <a:latin typeface="Plus Jakarta Sans"/>
              </a:rPr>
              <a:t>Hospital Efficiency &amp; Facility Outliers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1066800"/>
            <a:ext cx="11144250" cy="2752725"/>
          </a:xfrm>
          <a:prstGeom prst="rect">
            <a:avLst/>
          </a:prstGeom>
        </p:spPr>
      </p:pic>
      <p:pic>
        <p:nvPicPr>
          <p:cNvPr id="4" name="Picture 3" descr="image.png"/>
          <p:cNvPicPr>
            <a:picLocks noChangeAspect="1"/>
          </p:cNvPicPr>
          <p:nvPr/>
        </p:nvPicPr>
        <p:blipFill>
          <a:blip r:embed="rId4"/>
          <a:stretch>
            <a:fillRect/>
          </a:stretch>
        </p:blipFill>
        <p:spPr>
          <a:xfrm>
            <a:off x="523875" y="6400800"/>
            <a:ext cx="12192000" cy="285750"/>
          </a:xfrm>
          <a:prstGeom prst="rect">
            <a:avLst/>
          </a:prstGeom>
        </p:spPr>
      </p:pic>
      <p:sp>
        <p:nvSpPr>
          <p:cNvPr id="5" name="TextBox 4"/>
          <p:cNvSpPr txBox="1"/>
          <p:nvPr/>
        </p:nvSpPr>
        <p:spPr>
          <a:xfrm>
            <a:off x="523875" y="6524625"/>
            <a:ext cx="2886075" cy="161925"/>
          </a:xfrm>
          <a:prstGeom prst="rect">
            <a:avLst/>
          </a:prstGeom>
          <a:noFill/>
        </p:spPr>
        <p:txBody>
          <a:bodyPr wrap="square" lIns="0" tIns="0" rIns="0" bIns="0" anchor="t">
            <a:spAutoFit/>
          </a:bodyPr>
          <a:lstStyle/>
          <a:p>
            <a:pPr algn="l"/>
            <a:r>
              <a:rPr sz="1050" b="0" i="0" u="none">
                <a:solidFill>
                  <a:srgbClr val="64748B"/>
                </a:solidFill>
                <a:latin typeface="Inter Medium"/>
              </a:rPr>
              <a:t>Healthcare Admission &amp; Billing Cost Analysis</a:t>
            </a:r>
          </a:p>
        </p:txBody>
      </p:sp>
      <p:sp>
        <p:nvSpPr>
          <p:cNvPr id="6" name="TextBox 5"/>
          <p:cNvSpPr txBox="1"/>
          <p:nvPr/>
        </p:nvSpPr>
        <p:spPr>
          <a:xfrm>
            <a:off x="12268200" y="6524625"/>
            <a:ext cx="0" cy="161925"/>
          </a:xfrm>
          <a:prstGeom prst="rect">
            <a:avLst/>
          </a:prstGeom>
          <a:noFill/>
        </p:spPr>
        <p:txBody>
          <a:bodyPr wrap="square" lIns="0" tIns="0" rIns="0" bIns="0" anchor="t">
            <a:spAutoFit/>
          </a:bodyPr>
          <a:lstStyle/>
          <a:p>
            <a:pPr algn="l"/>
            <a:r>
              <a:rPr sz="1050" b="0" i="0" u="none">
                <a:solidFill>
                  <a:srgbClr val="64748B"/>
                </a:solidFill>
                <a:latin typeface="Inter Medium"/>
              </a:rPr>
              <a:t>Slide 9</a:t>
            </a:r>
          </a:p>
        </p:txBody>
      </p:sp>
      <p:sp>
        <p:nvSpPr>
          <p:cNvPr id="7" name="TextBox 6"/>
          <p:cNvSpPr txBox="1"/>
          <p:nvPr/>
        </p:nvSpPr>
        <p:spPr>
          <a:xfrm>
            <a:off x="523875" y="1066800"/>
            <a:ext cx="5429250" cy="228600"/>
          </a:xfrm>
          <a:prstGeom prst="rect">
            <a:avLst/>
          </a:prstGeom>
          <a:noFill/>
        </p:spPr>
        <p:txBody>
          <a:bodyPr wrap="square" lIns="0" tIns="0" rIns="0" bIns="0" anchor="t">
            <a:spAutoFit/>
          </a:bodyPr>
          <a:lstStyle/>
          <a:p>
            <a:pPr algn="l">
              <a:lnSpc>
                <a:spcPts val="1800"/>
              </a:lnSpc>
            </a:pPr>
            <a:r>
              <a:rPr sz="1200" b="1" i="0" u="none" dirty="0">
                <a:solidFill>
                  <a:srgbClr val="0EA5E9"/>
                </a:solidFill>
                <a:latin typeface="Inter"/>
              </a:rPr>
              <a:t>RESEARCH QUESTION 4</a:t>
            </a:r>
          </a:p>
        </p:txBody>
      </p:sp>
      <p:sp>
        <p:nvSpPr>
          <p:cNvPr id="8" name="TextBox 7"/>
          <p:cNvSpPr txBox="1"/>
          <p:nvPr/>
        </p:nvSpPr>
        <p:spPr>
          <a:xfrm>
            <a:off x="523875" y="1352550"/>
            <a:ext cx="5700712" cy="571500"/>
          </a:xfrm>
          <a:prstGeom prst="rect">
            <a:avLst/>
          </a:prstGeom>
          <a:noFill/>
        </p:spPr>
        <p:txBody>
          <a:bodyPr wrap="square" lIns="0" tIns="0" rIns="0" bIns="0" anchor="t">
            <a:spAutoFit/>
          </a:bodyPr>
          <a:lstStyle/>
          <a:p>
            <a:pPr algn="l"/>
            <a:r>
              <a:rPr sz="1800" b="1" i="0" u="none" dirty="0">
                <a:solidFill>
                  <a:srgbClr val="0F172A"/>
                </a:solidFill>
                <a:latin typeface="Plus Jakarta Sans"/>
              </a:rPr>
              <a:t>How do billing amounts vary across insurance and age groups?</a:t>
            </a:r>
          </a:p>
        </p:txBody>
      </p:sp>
      <p:sp>
        <p:nvSpPr>
          <p:cNvPr id="9" name="TextBox 8"/>
          <p:cNvSpPr txBox="1"/>
          <p:nvPr/>
        </p:nvSpPr>
        <p:spPr>
          <a:xfrm>
            <a:off x="523875" y="2057400"/>
            <a:ext cx="5429250" cy="814387"/>
          </a:xfrm>
          <a:prstGeom prst="rect">
            <a:avLst/>
          </a:prstGeom>
          <a:noFill/>
        </p:spPr>
        <p:txBody>
          <a:bodyPr wrap="square" lIns="0" tIns="0" rIns="0" bIns="0" anchor="t">
            <a:spAutoFit/>
          </a:bodyPr>
          <a:lstStyle/>
          <a:p>
            <a:pPr algn="l">
              <a:lnSpc>
                <a:spcPts val="2137"/>
              </a:lnSpc>
            </a:pPr>
            <a:r>
              <a:rPr b="1" i="0" u="none" dirty="0">
                <a:solidFill>
                  <a:srgbClr val="1E293B"/>
                </a:solidFill>
                <a:latin typeface="Inter"/>
              </a:rPr>
              <a:t>Key Finding:</a:t>
            </a:r>
            <a:r>
              <a:rPr b="0" i="0" u="none" dirty="0">
                <a:solidFill>
                  <a:srgbClr val="1E293B"/>
                </a:solidFill>
                <a:latin typeface="Inter"/>
              </a:rPr>
              <a:t> Financial expenses fluctuate noticeably across insurance providers (such as Blue Cross and Cigna) and patient age brackets.</a:t>
            </a:r>
          </a:p>
        </p:txBody>
      </p:sp>
      <p:sp>
        <p:nvSpPr>
          <p:cNvPr id="10" name="TextBox 9"/>
          <p:cNvSpPr txBox="1"/>
          <p:nvPr/>
        </p:nvSpPr>
        <p:spPr>
          <a:xfrm>
            <a:off x="523875" y="3005137"/>
            <a:ext cx="5429250" cy="814387"/>
          </a:xfrm>
          <a:prstGeom prst="rect">
            <a:avLst/>
          </a:prstGeom>
          <a:noFill/>
        </p:spPr>
        <p:txBody>
          <a:bodyPr wrap="square" lIns="0" tIns="0" rIns="0" bIns="0" anchor="t">
            <a:spAutoFit/>
          </a:bodyPr>
          <a:lstStyle/>
          <a:p>
            <a:pPr algn="l">
              <a:lnSpc>
                <a:spcPts val="2137"/>
              </a:lnSpc>
            </a:pPr>
            <a:r>
              <a:rPr b="1" i="0" u="none" dirty="0">
                <a:solidFill>
                  <a:srgbClr val="1E293B"/>
                </a:solidFill>
                <a:latin typeface="Inter"/>
              </a:rPr>
              <a:t>Insight:</a:t>
            </a:r>
            <a:r>
              <a:rPr b="0" i="0" u="none" dirty="0">
                <a:solidFill>
                  <a:srgbClr val="1E293B"/>
                </a:solidFill>
                <a:latin typeface="Inter"/>
              </a:rPr>
              <a:t> Younger adult cohorts and specific mid-tier age groups experience sharp financial spikes exceeding $35,000 per admission, requiring targeted review.</a:t>
            </a:r>
          </a:p>
        </p:txBody>
      </p:sp>
      <p:sp>
        <p:nvSpPr>
          <p:cNvPr id="11" name="TextBox 10"/>
          <p:cNvSpPr txBox="1"/>
          <p:nvPr/>
        </p:nvSpPr>
        <p:spPr>
          <a:xfrm>
            <a:off x="523875" y="428625"/>
            <a:ext cx="11668125" cy="447675"/>
          </a:xfrm>
          <a:prstGeom prst="rect">
            <a:avLst/>
          </a:prstGeom>
          <a:noFill/>
        </p:spPr>
        <p:txBody>
          <a:bodyPr wrap="square" lIns="0" tIns="0" rIns="0" bIns="0" anchor="t">
            <a:spAutoFit/>
          </a:bodyPr>
          <a:lstStyle/>
          <a:p>
            <a:pPr algn="l"/>
            <a:r>
              <a:rPr sz="2850" b="1" i="0" u="none" dirty="0">
                <a:solidFill>
                  <a:srgbClr val="0F172A"/>
                </a:solidFill>
                <a:latin typeface="Plus Jakarta Sans"/>
              </a:rPr>
              <a:t>Insurance Providers &amp; Patient Age Demographics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4"/>
          <a:stretch>
            <a:fillRect/>
          </a:stretch>
        </p:blipFill>
        <p:spPr>
          <a:xfrm>
            <a:off x="523875" y="1066800"/>
            <a:ext cx="11144250" cy="3524250"/>
          </a:xfrm>
          <a:prstGeom prst="rect">
            <a:avLst/>
          </a:prstGeom>
        </p:spPr>
      </p:pic>
      <p:pic>
        <p:nvPicPr>
          <p:cNvPr id="4" name="Picture 3" descr="image.png"/>
          <p:cNvPicPr>
            <a:picLocks noChangeAspect="1"/>
          </p:cNvPicPr>
          <p:nvPr/>
        </p:nvPicPr>
        <p:blipFill>
          <a:blip r:embed="rId5"/>
          <a:stretch>
            <a:fillRect/>
          </a:stretch>
        </p:blipFill>
        <p:spPr>
          <a:xfrm>
            <a:off x="523875" y="2057400"/>
            <a:ext cx="5429250" cy="1295400"/>
          </a:xfrm>
          <a:prstGeom prst="rect">
            <a:avLst/>
          </a:prstGeom>
        </p:spPr>
      </p:pic>
      <p:pic>
        <p:nvPicPr>
          <p:cNvPr id="5" name="Picture 4" descr="image.png"/>
          <p:cNvPicPr>
            <a:picLocks noChangeAspect="1"/>
          </p:cNvPicPr>
          <p:nvPr/>
        </p:nvPicPr>
        <p:blipFill>
          <a:blip r:embed="rId6"/>
          <a:stretch>
            <a:fillRect/>
          </a:stretch>
        </p:blipFill>
        <p:spPr>
          <a:xfrm>
            <a:off x="19050" y="6212898"/>
            <a:ext cx="12192000" cy="285750"/>
          </a:xfrm>
          <a:prstGeom prst="rect">
            <a:avLst/>
          </a:prstGeom>
        </p:spPr>
      </p:pic>
      <p:sp>
        <p:nvSpPr>
          <p:cNvPr id="6" name="TextBox 5"/>
          <p:cNvSpPr txBox="1"/>
          <p:nvPr/>
        </p:nvSpPr>
        <p:spPr>
          <a:xfrm>
            <a:off x="523875" y="6524625"/>
            <a:ext cx="2886075" cy="161925"/>
          </a:xfrm>
          <a:prstGeom prst="rect">
            <a:avLst/>
          </a:prstGeom>
          <a:noFill/>
        </p:spPr>
        <p:txBody>
          <a:bodyPr wrap="square" lIns="0" tIns="0" rIns="0" bIns="0" anchor="t">
            <a:spAutoFit/>
          </a:bodyPr>
          <a:lstStyle/>
          <a:p>
            <a:pPr algn="l"/>
            <a:r>
              <a:rPr sz="1050" b="0" i="0" u="none">
                <a:solidFill>
                  <a:srgbClr val="64748B"/>
                </a:solidFill>
                <a:latin typeface="Inter Medium"/>
              </a:rPr>
              <a:t>Healthcare Admission &amp; Billing Cost Analysis</a:t>
            </a:r>
          </a:p>
        </p:txBody>
      </p:sp>
      <p:sp>
        <p:nvSpPr>
          <p:cNvPr id="7" name="TextBox 6"/>
          <p:cNvSpPr txBox="1"/>
          <p:nvPr/>
        </p:nvSpPr>
        <p:spPr>
          <a:xfrm>
            <a:off x="12211050" y="6524625"/>
            <a:ext cx="0" cy="161925"/>
          </a:xfrm>
          <a:prstGeom prst="rect">
            <a:avLst/>
          </a:prstGeom>
          <a:noFill/>
        </p:spPr>
        <p:txBody>
          <a:bodyPr wrap="square" lIns="0" tIns="0" rIns="0" bIns="0" anchor="t">
            <a:spAutoFit/>
          </a:bodyPr>
          <a:lstStyle/>
          <a:p>
            <a:pPr algn="l"/>
            <a:r>
              <a:rPr sz="1050" b="0" i="0" u="none">
                <a:solidFill>
                  <a:srgbClr val="64748B"/>
                </a:solidFill>
                <a:latin typeface="Inter Medium"/>
              </a:rPr>
              <a:t>Slide 10</a:t>
            </a:r>
          </a:p>
        </p:txBody>
      </p:sp>
      <p:sp>
        <p:nvSpPr>
          <p:cNvPr id="8" name="TextBox 7"/>
          <p:cNvSpPr txBox="1"/>
          <p:nvPr/>
        </p:nvSpPr>
        <p:spPr>
          <a:xfrm>
            <a:off x="523875" y="1066800"/>
            <a:ext cx="5429250" cy="228600"/>
          </a:xfrm>
          <a:prstGeom prst="rect">
            <a:avLst/>
          </a:prstGeom>
          <a:noFill/>
        </p:spPr>
        <p:txBody>
          <a:bodyPr wrap="square" lIns="0" tIns="0" rIns="0" bIns="0" anchor="t">
            <a:spAutoFit/>
          </a:bodyPr>
          <a:lstStyle/>
          <a:p>
            <a:pPr algn="l">
              <a:lnSpc>
                <a:spcPts val="1800"/>
              </a:lnSpc>
            </a:pPr>
            <a:r>
              <a:rPr sz="1200" b="1" i="0" u="none">
                <a:solidFill>
                  <a:srgbClr val="0EA5E9"/>
                </a:solidFill>
                <a:latin typeface="Inter"/>
              </a:rPr>
              <a:t>RESEARCH QUESTION 5</a:t>
            </a:r>
          </a:p>
        </p:txBody>
      </p:sp>
      <p:sp>
        <p:nvSpPr>
          <p:cNvPr id="9" name="TextBox 8"/>
          <p:cNvSpPr txBox="1"/>
          <p:nvPr/>
        </p:nvSpPr>
        <p:spPr>
          <a:xfrm>
            <a:off x="523875" y="1352550"/>
            <a:ext cx="5700712" cy="571500"/>
          </a:xfrm>
          <a:prstGeom prst="rect">
            <a:avLst/>
          </a:prstGeom>
          <a:noFill/>
        </p:spPr>
        <p:txBody>
          <a:bodyPr wrap="square" lIns="0" tIns="0" rIns="0" bIns="0" anchor="t">
            <a:spAutoFit/>
          </a:bodyPr>
          <a:lstStyle/>
          <a:p>
            <a:pPr algn="l"/>
            <a:r>
              <a:rPr sz="1800" b="1" i="0" u="none" dirty="0">
                <a:solidFill>
                  <a:srgbClr val="0F172A"/>
                </a:solidFill>
                <a:latin typeface="Plus Jakarta Sans"/>
              </a:rPr>
              <a:t>Is longer length of stay associated with higher billing amounts?</a:t>
            </a:r>
          </a:p>
        </p:txBody>
      </p:sp>
      <p:sp>
        <p:nvSpPr>
          <p:cNvPr id="10" name="TextBox 9"/>
          <p:cNvSpPr txBox="1"/>
          <p:nvPr/>
        </p:nvSpPr>
        <p:spPr>
          <a:xfrm>
            <a:off x="523875" y="3505200"/>
            <a:ext cx="5429250" cy="1085850"/>
          </a:xfrm>
          <a:prstGeom prst="rect">
            <a:avLst/>
          </a:prstGeom>
          <a:noFill/>
        </p:spPr>
        <p:txBody>
          <a:bodyPr wrap="square" lIns="0" tIns="0" rIns="0" bIns="0" anchor="t">
            <a:spAutoFit/>
          </a:bodyPr>
          <a:lstStyle/>
          <a:p>
            <a:pPr algn="l">
              <a:lnSpc>
                <a:spcPts val="2137"/>
              </a:lnSpc>
            </a:pPr>
            <a:r>
              <a:rPr sz="1600" b="1" i="0" u="none" dirty="0">
                <a:solidFill>
                  <a:srgbClr val="1E293B"/>
                </a:solidFill>
                <a:latin typeface="Inter"/>
              </a:rPr>
              <a:t>Plain English Takeaway:</a:t>
            </a:r>
            <a:r>
              <a:rPr sz="1600" b="0" i="0" u="none" dirty="0">
                <a:solidFill>
                  <a:srgbClr val="1E293B"/>
                </a:solidFill>
                <a:latin typeface="Inter"/>
              </a:rPr>
              <a:t> Staying longer in the hospital does not automatically mean higher bills. Overall costs depend much more heavily on the medical condition, specific procedures, or admission urgency than time spent in bed.</a:t>
            </a:r>
          </a:p>
        </p:txBody>
      </p:sp>
      <p:sp>
        <p:nvSpPr>
          <p:cNvPr id="11" name="TextBox 10"/>
          <p:cNvSpPr txBox="1"/>
          <p:nvPr/>
        </p:nvSpPr>
        <p:spPr>
          <a:xfrm>
            <a:off x="771525" y="2219325"/>
            <a:ext cx="4981575" cy="314325"/>
          </a:xfrm>
          <a:prstGeom prst="rect">
            <a:avLst/>
          </a:prstGeom>
          <a:noFill/>
        </p:spPr>
        <p:txBody>
          <a:bodyPr wrap="square" lIns="0" tIns="0" rIns="0" bIns="0" anchor="t">
            <a:spAutoFit/>
          </a:bodyPr>
          <a:lstStyle/>
          <a:p>
            <a:pPr algn="l"/>
            <a:r>
              <a:rPr sz="1950" b="1" i="0" u="none">
                <a:solidFill>
                  <a:srgbClr val="0F172A"/>
                </a:solidFill>
                <a:latin typeface="Plus Jakarta Sans"/>
              </a:rPr>
              <a:t>r = -0.01 Correlation</a:t>
            </a:r>
          </a:p>
        </p:txBody>
      </p:sp>
      <p:sp>
        <p:nvSpPr>
          <p:cNvPr id="12" name="TextBox 11"/>
          <p:cNvSpPr txBox="1"/>
          <p:nvPr/>
        </p:nvSpPr>
        <p:spPr>
          <a:xfrm>
            <a:off x="771525" y="2571750"/>
            <a:ext cx="4981575" cy="180975"/>
          </a:xfrm>
          <a:prstGeom prst="rect">
            <a:avLst/>
          </a:prstGeom>
          <a:noFill/>
        </p:spPr>
        <p:txBody>
          <a:bodyPr wrap="square" lIns="0" tIns="0" rIns="0" bIns="0" anchor="t">
            <a:spAutoFit/>
          </a:bodyPr>
          <a:lstStyle/>
          <a:p>
            <a:pPr algn="l"/>
            <a:r>
              <a:rPr sz="1125" b="1" i="0" u="none">
                <a:solidFill>
                  <a:srgbClr val="334155"/>
                </a:solidFill>
                <a:latin typeface="Inter"/>
              </a:rPr>
              <a:t>No Statistical Relationship</a:t>
            </a:r>
          </a:p>
        </p:txBody>
      </p:sp>
      <p:sp>
        <p:nvSpPr>
          <p:cNvPr id="13" name="TextBox 12"/>
          <p:cNvSpPr txBox="1"/>
          <p:nvPr/>
        </p:nvSpPr>
        <p:spPr>
          <a:xfrm>
            <a:off x="771525" y="2809875"/>
            <a:ext cx="4981575" cy="492443"/>
          </a:xfrm>
          <a:prstGeom prst="rect">
            <a:avLst/>
          </a:prstGeom>
          <a:noFill/>
        </p:spPr>
        <p:txBody>
          <a:bodyPr wrap="square" lIns="0" tIns="0" rIns="0" bIns="0" anchor="t">
            <a:spAutoFit/>
          </a:bodyPr>
          <a:lstStyle/>
          <a:p>
            <a:pPr algn="l"/>
            <a:r>
              <a:rPr sz="1600" b="0" i="0" u="none" dirty="0">
                <a:solidFill>
                  <a:srgbClr val="475569"/>
                </a:solidFill>
                <a:latin typeface="Inter"/>
              </a:rPr>
              <a:t>Proves a near-zero statistical correlation between stay duration and total billing amount.</a:t>
            </a:r>
          </a:p>
        </p:txBody>
      </p:sp>
      <p:sp>
        <p:nvSpPr>
          <p:cNvPr id="14" name="TextBox 13"/>
          <p:cNvSpPr txBox="1"/>
          <p:nvPr/>
        </p:nvSpPr>
        <p:spPr>
          <a:xfrm>
            <a:off x="523875" y="428625"/>
            <a:ext cx="11668125" cy="447675"/>
          </a:xfrm>
          <a:prstGeom prst="rect">
            <a:avLst/>
          </a:prstGeom>
          <a:noFill/>
        </p:spPr>
        <p:txBody>
          <a:bodyPr wrap="square" lIns="0" tIns="0" rIns="0" bIns="0" anchor="t">
            <a:spAutoFit/>
          </a:bodyPr>
          <a:lstStyle/>
          <a:p>
            <a:pPr algn="l"/>
            <a:r>
              <a:rPr sz="2850" b="1" i="0" u="none">
                <a:solidFill>
                  <a:srgbClr val="0F172A"/>
                </a:solidFill>
                <a:latin typeface="Plus Jakarta Sans"/>
              </a:rPr>
              <a:t>Length of Stay vs. Cost Correlation Analysis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19664"/>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1066800"/>
            <a:ext cx="11144250" cy="2438400"/>
          </a:xfrm>
          <a:prstGeom prst="rect">
            <a:avLst/>
          </a:prstGeom>
        </p:spPr>
      </p:pic>
      <p:pic>
        <p:nvPicPr>
          <p:cNvPr id="4" name="Picture 3" descr="image.png"/>
          <p:cNvPicPr>
            <a:picLocks noChangeAspect="1"/>
          </p:cNvPicPr>
          <p:nvPr/>
        </p:nvPicPr>
        <p:blipFill>
          <a:blip r:embed="rId4"/>
          <a:stretch>
            <a:fillRect/>
          </a:stretch>
        </p:blipFill>
        <p:spPr>
          <a:xfrm>
            <a:off x="523875" y="1066800"/>
            <a:ext cx="5429250" cy="1247775"/>
          </a:xfrm>
          <a:prstGeom prst="rect">
            <a:avLst/>
          </a:prstGeom>
        </p:spPr>
      </p:pic>
      <p:pic>
        <p:nvPicPr>
          <p:cNvPr id="5" name="Picture 4" descr="image.png"/>
          <p:cNvPicPr>
            <a:picLocks noChangeAspect="1"/>
          </p:cNvPicPr>
          <p:nvPr/>
        </p:nvPicPr>
        <p:blipFill>
          <a:blip r:embed="rId5"/>
          <a:stretch>
            <a:fillRect/>
          </a:stretch>
        </p:blipFill>
        <p:spPr>
          <a:xfrm>
            <a:off x="523875" y="2447925"/>
            <a:ext cx="5429250" cy="1057275"/>
          </a:xfrm>
          <a:prstGeom prst="rect">
            <a:avLst/>
          </a:prstGeom>
        </p:spPr>
      </p:pic>
      <p:pic>
        <p:nvPicPr>
          <p:cNvPr id="6" name="Picture 5" descr="image.png"/>
          <p:cNvPicPr>
            <a:picLocks noChangeAspect="1"/>
          </p:cNvPicPr>
          <p:nvPr/>
        </p:nvPicPr>
        <p:blipFill>
          <a:blip r:embed="rId6"/>
          <a:stretch>
            <a:fillRect/>
          </a:stretch>
        </p:blipFill>
        <p:spPr>
          <a:xfrm>
            <a:off x="523875" y="6400800"/>
            <a:ext cx="12192000" cy="285750"/>
          </a:xfrm>
          <a:prstGeom prst="rect">
            <a:avLst/>
          </a:prstGeom>
        </p:spPr>
      </p:pic>
      <p:sp>
        <p:nvSpPr>
          <p:cNvPr id="7" name="TextBox 6"/>
          <p:cNvSpPr txBox="1"/>
          <p:nvPr/>
        </p:nvSpPr>
        <p:spPr>
          <a:xfrm>
            <a:off x="523875" y="6524625"/>
            <a:ext cx="4218716" cy="246221"/>
          </a:xfrm>
          <a:prstGeom prst="rect">
            <a:avLst/>
          </a:prstGeom>
          <a:noFill/>
        </p:spPr>
        <p:txBody>
          <a:bodyPr wrap="square" lIns="0" tIns="0" rIns="0" bIns="0" anchor="t">
            <a:spAutoFit/>
          </a:bodyPr>
          <a:lstStyle/>
          <a:p>
            <a:pPr algn="l"/>
            <a:r>
              <a:rPr sz="1600" b="0" i="0" u="none" dirty="0">
                <a:solidFill>
                  <a:srgbClr val="64748B"/>
                </a:solidFill>
                <a:latin typeface="Inter Medium"/>
              </a:rPr>
              <a:t>Healthcare Admission &amp; Billing Cost Analysis</a:t>
            </a:r>
          </a:p>
        </p:txBody>
      </p:sp>
      <p:sp>
        <p:nvSpPr>
          <p:cNvPr id="8" name="TextBox 7"/>
          <p:cNvSpPr txBox="1"/>
          <p:nvPr/>
        </p:nvSpPr>
        <p:spPr>
          <a:xfrm>
            <a:off x="12239624" y="6524625"/>
            <a:ext cx="45719" cy="1723549"/>
          </a:xfrm>
          <a:prstGeom prst="rect">
            <a:avLst/>
          </a:prstGeom>
          <a:noFill/>
        </p:spPr>
        <p:txBody>
          <a:bodyPr wrap="square" lIns="0" tIns="0" rIns="0" bIns="0" anchor="t">
            <a:spAutoFit/>
          </a:bodyPr>
          <a:lstStyle/>
          <a:p>
            <a:pPr algn="l"/>
            <a:r>
              <a:rPr sz="1600" b="0" i="0" u="none">
                <a:solidFill>
                  <a:srgbClr val="64748B"/>
                </a:solidFill>
                <a:latin typeface="Inter Medium"/>
              </a:rPr>
              <a:t>Slide 11</a:t>
            </a:r>
          </a:p>
        </p:txBody>
      </p:sp>
      <p:sp>
        <p:nvSpPr>
          <p:cNvPr id="9" name="TextBox 8"/>
          <p:cNvSpPr txBox="1"/>
          <p:nvPr/>
        </p:nvSpPr>
        <p:spPr>
          <a:xfrm>
            <a:off x="752475" y="1228725"/>
            <a:ext cx="5019675" cy="246221"/>
          </a:xfrm>
          <a:prstGeom prst="rect">
            <a:avLst/>
          </a:prstGeom>
          <a:noFill/>
        </p:spPr>
        <p:txBody>
          <a:bodyPr wrap="square" lIns="0" tIns="0" rIns="0" bIns="0" anchor="t">
            <a:spAutoFit/>
          </a:bodyPr>
          <a:lstStyle/>
          <a:p>
            <a:pPr algn="l"/>
            <a:r>
              <a:rPr sz="1600" b="1" i="0" u="none">
                <a:solidFill>
                  <a:srgbClr val="0F172A"/>
                </a:solidFill>
                <a:latin typeface="Plus Jakarta Sans"/>
              </a:rPr>
              <a:t>Daily Burn Rate</a:t>
            </a:r>
          </a:p>
        </p:txBody>
      </p:sp>
      <p:sp>
        <p:nvSpPr>
          <p:cNvPr id="10" name="TextBox 9"/>
          <p:cNvSpPr txBox="1"/>
          <p:nvPr/>
        </p:nvSpPr>
        <p:spPr>
          <a:xfrm>
            <a:off x="752475" y="1533525"/>
            <a:ext cx="5019675" cy="246221"/>
          </a:xfrm>
          <a:prstGeom prst="rect">
            <a:avLst/>
          </a:prstGeom>
          <a:noFill/>
        </p:spPr>
        <p:txBody>
          <a:bodyPr wrap="square" lIns="0" tIns="0" rIns="0" bIns="0" anchor="t">
            <a:spAutoFit/>
          </a:bodyPr>
          <a:lstStyle/>
          <a:p>
            <a:pPr algn="l"/>
            <a:r>
              <a:rPr sz="1600" b="1" i="0" u="none">
                <a:solidFill>
                  <a:srgbClr val="334155"/>
                </a:solidFill>
                <a:latin typeface="Inter"/>
              </a:rPr>
              <a:t>Cost Per Patient Day</a:t>
            </a:r>
          </a:p>
        </p:txBody>
      </p:sp>
      <p:sp>
        <p:nvSpPr>
          <p:cNvPr id="11" name="TextBox 10"/>
          <p:cNvSpPr txBox="1"/>
          <p:nvPr/>
        </p:nvSpPr>
        <p:spPr>
          <a:xfrm>
            <a:off x="752475" y="1771650"/>
            <a:ext cx="5019675" cy="246221"/>
          </a:xfrm>
          <a:prstGeom prst="rect">
            <a:avLst/>
          </a:prstGeom>
          <a:noFill/>
        </p:spPr>
        <p:txBody>
          <a:bodyPr wrap="square" lIns="0" tIns="0" rIns="0" bIns="0" anchor="t">
            <a:spAutoFit/>
          </a:bodyPr>
          <a:lstStyle/>
          <a:p>
            <a:pPr algn="l"/>
            <a:r>
              <a:rPr sz="1600" b="0" i="0" u="none">
                <a:solidFill>
                  <a:srgbClr val="475569"/>
                </a:solidFill>
                <a:latin typeface="Inter"/>
              </a:rPr>
              <a:t>Calculated via custom SQL (Billing Amount / Length of Stay).</a:t>
            </a:r>
          </a:p>
        </p:txBody>
      </p:sp>
      <p:sp>
        <p:nvSpPr>
          <p:cNvPr id="12" name="TextBox 11"/>
          <p:cNvSpPr txBox="1"/>
          <p:nvPr/>
        </p:nvSpPr>
        <p:spPr>
          <a:xfrm>
            <a:off x="752475" y="2609850"/>
            <a:ext cx="5019675" cy="246221"/>
          </a:xfrm>
          <a:prstGeom prst="rect">
            <a:avLst/>
          </a:prstGeom>
          <a:noFill/>
        </p:spPr>
        <p:txBody>
          <a:bodyPr wrap="square" lIns="0" tIns="0" rIns="0" bIns="0" anchor="t">
            <a:spAutoFit/>
          </a:bodyPr>
          <a:lstStyle/>
          <a:p>
            <a:pPr algn="l"/>
            <a:r>
              <a:rPr sz="1600" b="1" i="0" u="none">
                <a:solidFill>
                  <a:srgbClr val="0F172A"/>
                </a:solidFill>
                <a:latin typeface="Plus Jakarta Sans"/>
              </a:rPr>
              <a:t>Top 10% Concentration</a:t>
            </a:r>
          </a:p>
        </p:txBody>
      </p:sp>
      <p:sp>
        <p:nvSpPr>
          <p:cNvPr id="13" name="TextBox 12"/>
          <p:cNvSpPr txBox="1"/>
          <p:nvPr/>
        </p:nvSpPr>
        <p:spPr>
          <a:xfrm>
            <a:off x="752475" y="2914650"/>
            <a:ext cx="5019675" cy="246221"/>
          </a:xfrm>
          <a:prstGeom prst="rect">
            <a:avLst/>
          </a:prstGeom>
          <a:noFill/>
        </p:spPr>
        <p:txBody>
          <a:bodyPr wrap="square" lIns="0" tIns="0" rIns="0" bIns="0" anchor="t">
            <a:spAutoFit/>
          </a:bodyPr>
          <a:lstStyle/>
          <a:p>
            <a:pPr algn="l"/>
            <a:r>
              <a:rPr sz="1600" b="1" i="0" u="none">
                <a:solidFill>
                  <a:srgbClr val="334155"/>
                </a:solidFill>
                <a:latin typeface="Inter"/>
              </a:rPr>
              <a:t>High-Risk Cost Ratio</a:t>
            </a:r>
          </a:p>
        </p:txBody>
      </p:sp>
      <p:sp>
        <p:nvSpPr>
          <p:cNvPr id="14" name="TextBox 13"/>
          <p:cNvSpPr txBox="1"/>
          <p:nvPr/>
        </p:nvSpPr>
        <p:spPr>
          <a:xfrm>
            <a:off x="752475" y="3152775"/>
            <a:ext cx="5019675" cy="246221"/>
          </a:xfrm>
          <a:prstGeom prst="rect">
            <a:avLst/>
          </a:prstGeom>
          <a:noFill/>
        </p:spPr>
        <p:txBody>
          <a:bodyPr wrap="square" lIns="0" tIns="0" rIns="0" bIns="0" anchor="t">
            <a:spAutoFit/>
          </a:bodyPr>
          <a:lstStyle/>
          <a:p>
            <a:pPr algn="l"/>
            <a:r>
              <a:rPr sz="1600" b="0" i="0" u="none">
                <a:solidFill>
                  <a:srgbClr val="475569"/>
                </a:solidFill>
                <a:latin typeface="Inter"/>
              </a:rPr>
              <a:t>Measures exact revenue share from top 10% admissions.</a:t>
            </a:r>
          </a:p>
        </p:txBody>
      </p:sp>
      <p:sp>
        <p:nvSpPr>
          <p:cNvPr id="15" name="TextBox 14"/>
          <p:cNvSpPr txBox="1"/>
          <p:nvPr/>
        </p:nvSpPr>
        <p:spPr>
          <a:xfrm>
            <a:off x="523875" y="428625"/>
            <a:ext cx="11668125" cy="492443"/>
          </a:xfrm>
          <a:prstGeom prst="rect">
            <a:avLst/>
          </a:prstGeom>
          <a:noFill/>
        </p:spPr>
        <p:txBody>
          <a:bodyPr wrap="square" lIns="0" tIns="0" rIns="0" bIns="0" anchor="t">
            <a:spAutoFit/>
          </a:bodyPr>
          <a:lstStyle/>
          <a:p>
            <a:pPr algn="l"/>
            <a:r>
              <a:rPr sz="3200" b="1" i="0" u="none" dirty="0">
                <a:solidFill>
                  <a:srgbClr val="0F172A"/>
                </a:solidFill>
                <a:latin typeface="Plus Jakarta Sans"/>
              </a:rPr>
              <a:t>Exclusive Custom Pipeline KPIs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0391" y="20782"/>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6400800"/>
            <a:ext cx="12192000" cy="285750"/>
          </a:xfrm>
          <a:prstGeom prst="rect">
            <a:avLst/>
          </a:prstGeom>
        </p:spPr>
      </p:pic>
      <p:graphicFrame>
        <p:nvGraphicFramePr>
          <p:cNvPr id="4" name="Table 3"/>
          <p:cNvGraphicFramePr>
            <a:graphicFrameLocks noGrp="1"/>
          </p:cNvGraphicFramePr>
          <p:nvPr>
            <p:extLst>
              <p:ext uri="{D42A27DB-BD31-4B8C-83A1-F6EECF244321}">
                <p14:modId xmlns:p14="http://schemas.microsoft.com/office/powerpoint/2010/main" val="1752944445"/>
              </p:ext>
            </p:extLst>
          </p:nvPr>
        </p:nvGraphicFramePr>
        <p:xfrm>
          <a:off x="638175" y="1393028"/>
          <a:ext cx="11144249" cy="2300955"/>
        </p:xfrm>
        <a:graphic>
          <a:graphicData uri="http://schemas.openxmlformats.org/drawingml/2006/table">
            <a:tbl>
              <a:tblPr firstRow="1" bandRow="1">
                <a:tableStyleId>{5C22544A-7EE6-4342-B048-85BDC9FD1C3A}</a:tableStyleId>
              </a:tblPr>
              <a:tblGrid>
                <a:gridCol w="2458194">
                  <a:extLst>
                    <a:ext uri="{9D8B030D-6E8A-4147-A177-3AD203B41FA5}">
                      <a16:colId xmlns:a16="http://schemas.microsoft.com/office/drawing/2014/main" val="20000"/>
                    </a:ext>
                  </a:extLst>
                </a:gridCol>
                <a:gridCol w="2311747">
                  <a:extLst>
                    <a:ext uri="{9D8B030D-6E8A-4147-A177-3AD203B41FA5}">
                      <a16:colId xmlns:a16="http://schemas.microsoft.com/office/drawing/2014/main" val="20001"/>
                    </a:ext>
                  </a:extLst>
                </a:gridCol>
                <a:gridCol w="6374308">
                  <a:extLst>
                    <a:ext uri="{9D8B030D-6E8A-4147-A177-3AD203B41FA5}">
                      <a16:colId xmlns:a16="http://schemas.microsoft.com/office/drawing/2014/main" val="20002"/>
                    </a:ext>
                  </a:extLst>
                </a:gridCol>
              </a:tblGrid>
              <a:tr h="80092">
                <a:tc>
                  <a:txBody>
                    <a:bodyPr/>
                    <a:lstStyle/>
                    <a:p>
                      <a:pPr algn="l"/>
                      <a:r>
                        <a:rPr sz="1350" b="1" i="0" u="none">
                          <a:solidFill>
                            <a:srgbClr val="0F172A"/>
                          </a:solidFill>
                          <a:latin typeface="Inter"/>
                        </a:rPr>
                        <a:t>Key Analytical Finding</a:t>
                      </a:r>
                    </a:p>
                  </a:txBody>
                  <a:tcPr marL="63500" marR="63500" marT="25400" marB="25400" anchor="ctr">
                    <a:lnL>
                      <a:noFill/>
                    </a:lnL>
                    <a:lnR>
                      <a:noFill/>
                    </a:lnR>
                    <a:lnT>
                      <a:noFill/>
                    </a:lnT>
                    <a:lnB>
                      <a:noFill/>
                    </a:lnB>
                    <a:solidFill>
                      <a:srgbClr val="F1F5F9"/>
                    </a:solidFill>
                  </a:tcPr>
                </a:tc>
                <a:tc>
                  <a:txBody>
                    <a:bodyPr/>
                    <a:lstStyle/>
                    <a:p>
                      <a:pPr algn="l"/>
                      <a:r>
                        <a:rPr sz="1350" b="1" i="0" u="none" dirty="0">
                          <a:solidFill>
                            <a:srgbClr val="0F172A"/>
                          </a:solidFill>
                          <a:latin typeface="Inter"/>
                        </a:rPr>
                        <a:t>Statistical Evidence</a:t>
                      </a:r>
                    </a:p>
                  </a:txBody>
                  <a:tcPr marL="63500" marR="63500" marT="25400" marB="25400" anchor="ctr">
                    <a:lnL>
                      <a:noFill/>
                    </a:lnL>
                    <a:lnR>
                      <a:noFill/>
                    </a:lnR>
                    <a:lnT>
                      <a:noFill/>
                    </a:lnT>
                    <a:lnB>
                      <a:noFill/>
                    </a:lnB>
                    <a:solidFill>
                      <a:srgbClr val="F1F5F9"/>
                    </a:solidFill>
                  </a:tcPr>
                </a:tc>
                <a:tc>
                  <a:txBody>
                    <a:bodyPr/>
                    <a:lstStyle/>
                    <a:p>
                      <a:pPr algn="l"/>
                      <a:r>
                        <a:rPr sz="1350" b="1" i="0" u="none" dirty="0">
                          <a:solidFill>
                            <a:srgbClr val="0F172A"/>
                          </a:solidFill>
                          <a:latin typeface="Inter"/>
                        </a:rPr>
                        <a:t>Strategic Actionable Response</a:t>
                      </a:r>
                    </a:p>
                  </a:txBody>
                  <a:tcPr marL="63500" marR="63500" marT="25400" marB="25400" anchor="ctr">
                    <a:lnL>
                      <a:noFill/>
                    </a:lnL>
                    <a:lnR>
                      <a:noFill/>
                    </a:lnR>
                    <a:lnT>
                      <a:noFill/>
                    </a:lnT>
                    <a:lnB>
                      <a:noFill/>
                    </a:lnB>
                    <a:solidFill>
                      <a:srgbClr val="F1F5F9"/>
                    </a:solidFill>
                  </a:tcPr>
                </a:tc>
                <a:extLst>
                  <a:ext uri="{0D108BD9-81ED-4DB2-BD59-A6C34878D82A}">
                    <a16:rowId xmlns:a16="http://schemas.microsoft.com/office/drawing/2014/main" val="10000"/>
                  </a:ext>
                </a:extLst>
              </a:tr>
              <a:tr h="728662">
                <a:tc>
                  <a:txBody>
                    <a:bodyPr/>
                    <a:lstStyle/>
                    <a:p>
                      <a:pPr algn="l"/>
                      <a:r>
                        <a:rPr sz="1350" b="1" i="0" u="none">
                          <a:solidFill>
                            <a:srgbClr val="1E293B"/>
                          </a:solidFill>
                          <a:latin typeface="Inter"/>
                        </a:rPr>
                        <a:t>Urgent Admissions Cost &amp; Stay</a:t>
                      </a:r>
                    </a:p>
                  </a:txBody>
                  <a:tcPr marL="63500" marR="63500" marT="25400" marB="25400" anchor="ctr">
                    <a:lnL>
                      <a:noFill/>
                    </a:lnL>
                    <a:lnR>
                      <a:noFill/>
                    </a:lnR>
                    <a:lnT>
                      <a:noFill/>
                    </a:lnT>
                    <a:lnB>
                      <a:noFill/>
                    </a:lnB>
                    <a:noFill/>
                  </a:tcPr>
                </a:tc>
                <a:tc>
                  <a:txBody>
                    <a:bodyPr/>
                    <a:lstStyle/>
                    <a:p>
                      <a:pPr algn="l"/>
                      <a:r>
                        <a:rPr sz="1350" b="0" i="0" u="none" dirty="0">
                          <a:solidFill>
                            <a:srgbClr val="1E293B"/>
                          </a:solidFill>
                          <a:latin typeface="Inter"/>
                        </a:rPr>
                        <a:t>$29,626 avg | 15.1 days</a:t>
                      </a:r>
                    </a:p>
                  </a:txBody>
                  <a:tcPr marL="63500" marR="63500" marT="25400" marB="25400" anchor="ctr">
                    <a:lnL>
                      <a:noFill/>
                    </a:lnL>
                    <a:lnR>
                      <a:noFill/>
                    </a:lnR>
                    <a:lnT>
                      <a:noFill/>
                    </a:lnT>
                    <a:lnB>
                      <a:noFill/>
                    </a:lnB>
                    <a:noFill/>
                  </a:tcPr>
                </a:tc>
                <a:tc>
                  <a:txBody>
                    <a:bodyPr/>
                    <a:lstStyle/>
                    <a:p>
                      <a:pPr algn="l"/>
                      <a:r>
                        <a:rPr sz="1350" b="0" i="0" u="none" dirty="0">
                          <a:solidFill>
                            <a:srgbClr val="1E293B"/>
                          </a:solidFill>
                          <a:latin typeface="Inter"/>
                        </a:rPr>
                        <a:t>Prioritize specialized case management and resource planning for urgent cases.</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1"/>
                  </a:ext>
                </a:extLst>
              </a:tr>
              <a:tr h="587089">
                <a:tc>
                  <a:txBody>
                    <a:bodyPr/>
                    <a:lstStyle/>
                    <a:p>
                      <a:pPr algn="l"/>
                      <a:r>
                        <a:rPr sz="1350" b="1" i="0" u="none" dirty="0">
                          <a:solidFill>
                            <a:srgbClr val="1E293B"/>
                          </a:solidFill>
                          <a:latin typeface="Inter"/>
                        </a:rPr>
                        <a:t>Duration vs. Cost Disconnect</a:t>
                      </a:r>
                    </a:p>
                  </a:txBody>
                  <a:tcPr marL="63500" marR="63500" marT="25400" marB="25400" anchor="ctr">
                    <a:lnL>
                      <a:noFill/>
                    </a:lnL>
                    <a:lnR>
                      <a:noFill/>
                    </a:lnR>
                    <a:lnT>
                      <a:noFill/>
                    </a:lnT>
                    <a:lnB>
                      <a:noFill/>
                    </a:lnB>
                    <a:noFill/>
                  </a:tcPr>
                </a:tc>
                <a:tc>
                  <a:txBody>
                    <a:bodyPr/>
                    <a:lstStyle/>
                    <a:p>
                      <a:pPr algn="l"/>
                      <a:r>
                        <a:rPr sz="1350" b="0" i="0" u="none">
                          <a:solidFill>
                            <a:srgbClr val="1E293B"/>
                          </a:solidFill>
                          <a:latin typeface="Inter"/>
                        </a:rPr>
                        <a:t>r = -0.01 correlation</a:t>
                      </a:r>
                    </a:p>
                  </a:txBody>
                  <a:tcPr marL="63500" marR="63500" marT="25400" marB="25400" anchor="ctr">
                    <a:lnL>
                      <a:noFill/>
                    </a:lnL>
                    <a:lnR>
                      <a:noFill/>
                    </a:lnR>
                    <a:lnT>
                      <a:noFill/>
                    </a:lnT>
                    <a:lnB>
                      <a:noFill/>
                    </a:lnB>
                    <a:noFill/>
                  </a:tcPr>
                </a:tc>
                <a:tc>
                  <a:txBody>
                    <a:bodyPr/>
                    <a:lstStyle/>
                    <a:p>
                      <a:pPr algn="l"/>
                      <a:r>
                        <a:rPr sz="1350" b="0" i="0" u="none">
                          <a:solidFill>
                            <a:srgbClr val="1E293B"/>
                          </a:solidFill>
                          <a:latin typeface="Inter"/>
                        </a:rPr>
                        <a:t>Investigate condition-specific and procedure-level cost drivers instead of focusing solely on stay length.</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2"/>
                  </a:ext>
                </a:extLst>
              </a:tr>
              <a:tr h="728664">
                <a:tc>
                  <a:txBody>
                    <a:bodyPr/>
                    <a:lstStyle/>
                    <a:p>
                      <a:pPr algn="l"/>
                      <a:r>
                        <a:rPr sz="1350" b="1" i="0" u="none">
                          <a:solidFill>
                            <a:srgbClr val="1E293B"/>
                          </a:solidFill>
                          <a:latin typeface="Inter"/>
                        </a:rPr>
                        <a:t>Facility Outlier Discrepancies</a:t>
                      </a:r>
                    </a:p>
                  </a:txBody>
                  <a:tcPr marL="63500" marR="63500" marT="25400" marB="25400" anchor="ctr">
                    <a:lnL>
                      <a:noFill/>
                    </a:lnL>
                    <a:lnR>
                      <a:noFill/>
                    </a:lnR>
                    <a:lnT>
                      <a:noFill/>
                    </a:lnT>
                    <a:lnB>
                      <a:noFill/>
                    </a:lnB>
                    <a:noFill/>
                  </a:tcPr>
                </a:tc>
                <a:tc>
                  <a:txBody>
                    <a:bodyPr/>
                    <a:lstStyle/>
                    <a:p>
                      <a:pPr algn="l"/>
                      <a:r>
                        <a:rPr sz="1350" b="0" i="0" u="none">
                          <a:solidFill>
                            <a:srgbClr val="991B1B"/>
                          </a:solidFill>
                          <a:latin typeface="Inter"/>
                        </a:rPr>
                        <a:t>Ross LLC (19.5d) &amp; Davis ($30k)</a:t>
                      </a:r>
                    </a:p>
                  </a:txBody>
                  <a:tcPr marL="63500" marR="63500" marT="25400" marB="25400" anchor="ctr">
                    <a:lnL>
                      <a:noFill/>
                    </a:lnL>
                    <a:lnR>
                      <a:noFill/>
                    </a:lnR>
                    <a:lnT>
                      <a:noFill/>
                    </a:lnT>
                    <a:lnB>
                      <a:noFill/>
                    </a:lnB>
                    <a:noFill/>
                  </a:tcPr>
                </a:tc>
                <a:tc>
                  <a:txBody>
                    <a:bodyPr/>
                    <a:lstStyle/>
                    <a:p>
                      <a:pPr algn="l"/>
                      <a:r>
                        <a:rPr sz="1350" b="0" i="0" u="none" dirty="0">
                          <a:solidFill>
                            <a:srgbClr val="1E293B"/>
                          </a:solidFill>
                          <a:latin typeface="Inter"/>
                        </a:rPr>
                        <a:t>Review internal operational, clinical, and billing practices across outlying facilities.</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3"/>
                  </a:ext>
                </a:extLst>
              </a:tr>
            </a:tbl>
          </a:graphicData>
        </a:graphic>
      </p:graphicFrame>
      <p:sp>
        <p:nvSpPr>
          <p:cNvPr id="5" name="TextBox 4"/>
          <p:cNvSpPr txBox="1"/>
          <p:nvPr/>
        </p:nvSpPr>
        <p:spPr>
          <a:xfrm>
            <a:off x="523875" y="6524625"/>
            <a:ext cx="4256457" cy="276999"/>
          </a:xfrm>
          <a:prstGeom prst="rect">
            <a:avLst/>
          </a:prstGeom>
          <a:noFill/>
        </p:spPr>
        <p:txBody>
          <a:bodyPr wrap="square" lIns="0" tIns="0" rIns="0" bIns="0" anchor="t">
            <a:spAutoFit/>
          </a:bodyPr>
          <a:lstStyle/>
          <a:p>
            <a:pPr algn="l"/>
            <a:r>
              <a:rPr b="0" i="0" u="none" dirty="0">
                <a:solidFill>
                  <a:srgbClr val="64748B"/>
                </a:solidFill>
                <a:latin typeface="Inter Medium"/>
              </a:rPr>
              <a:t>Healthcare Admission &amp; Billing Cost Analysis</a:t>
            </a:r>
          </a:p>
        </p:txBody>
      </p:sp>
      <p:sp>
        <p:nvSpPr>
          <p:cNvPr id="6" name="TextBox 5"/>
          <p:cNvSpPr txBox="1"/>
          <p:nvPr/>
        </p:nvSpPr>
        <p:spPr>
          <a:xfrm>
            <a:off x="12211050" y="6524625"/>
            <a:ext cx="0" cy="1938992"/>
          </a:xfrm>
          <a:prstGeom prst="rect">
            <a:avLst/>
          </a:prstGeom>
          <a:noFill/>
        </p:spPr>
        <p:txBody>
          <a:bodyPr wrap="square" lIns="0" tIns="0" rIns="0" bIns="0" anchor="t">
            <a:spAutoFit/>
          </a:bodyPr>
          <a:lstStyle/>
          <a:p>
            <a:pPr algn="l"/>
            <a:r>
              <a:rPr b="0" i="0" u="none" dirty="0">
                <a:solidFill>
                  <a:srgbClr val="64748B"/>
                </a:solidFill>
                <a:latin typeface="Inter Medium"/>
              </a:rPr>
              <a:t>Slide 12</a:t>
            </a:r>
          </a:p>
        </p:txBody>
      </p:sp>
      <p:sp>
        <p:nvSpPr>
          <p:cNvPr id="7" name="Rectangle 6"/>
          <p:cNvSpPr/>
          <p:nvPr/>
        </p:nvSpPr>
        <p:spPr>
          <a:xfrm>
            <a:off x="523875" y="1619250"/>
            <a:ext cx="2458194"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982069" y="1619250"/>
            <a:ext cx="2311747"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293816" y="1619250"/>
            <a:ext cx="6374308"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23875" y="2424112"/>
            <a:ext cx="245819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982069" y="2424112"/>
            <a:ext cx="231174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293816" y="2424112"/>
            <a:ext cx="637430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23875" y="3214687"/>
            <a:ext cx="245819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982069" y="3214687"/>
            <a:ext cx="231174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293816" y="3214687"/>
            <a:ext cx="637430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23875" y="4005262"/>
            <a:ext cx="245819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982069" y="4005262"/>
            <a:ext cx="231174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293816" y="4005262"/>
            <a:ext cx="637430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image.png"/>
          <p:cNvPicPr>
            <a:picLocks noChangeAspect="1"/>
          </p:cNvPicPr>
          <p:nvPr/>
        </p:nvPicPr>
        <p:blipFill>
          <a:blip r:embed="rId4"/>
          <a:stretch>
            <a:fillRect/>
          </a:stretch>
        </p:blipFill>
        <p:spPr>
          <a:xfrm>
            <a:off x="2903040" y="1619249"/>
            <a:ext cx="1866900" cy="290512"/>
          </a:xfrm>
          <a:prstGeom prst="rect">
            <a:avLst/>
          </a:prstGeom>
        </p:spPr>
      </p:pic>
      <p:pic>
        <p:nvPicPr>
          <p:cNvPr id="20" name="Picture 19" descr="image.png"/>
          <p:cNvPicPr>
            <a:picLocks noChangeAspect="1"/>
          </p:cNvPicPr>
          <p:nvPr/>
        </p:nvPicPr>
        <p:blipFill>
          <a:blip r:embed="rId5"/>
          <a:stretch>
            <a:fillRect/>
          </a:stretch>
        </p:blipFill>
        <p:spPr>
          <a:xfrm>
            <a:off x="3018951" y="2252994"/>
            <a:ext cx="1619250" cy="290512"/>
          </a:xfrm>
          <a:prstGeom prst="rect">
            <a:avLst/>
          </a:prstGeom>
        </p:spPr>
      </p:pic>
      <p:pic>
        <p:nvPicPr>
          <p:cNvPr id="21" name="Picture 20" descr="image.png"/>
          <p:cNvPicPr>
            <a:picLocks noChangeAspect="1"/>
          </p:cNvPicPr>
          <p:nvPr/>
        </p:nvPicPr>
        <p:blipFill>
          <a:blip r:embed="rId6"/>
          <a:stretch>
            <a:fillRect/>
          </a:stretch>
        </p:blipFill>
        <p:spPr>
          <a:xfrm>
            <a:off x="2982069" y="2751818"/>
            <a:ext cx="1798263" cy="461086"/>
          </a:xfrm>
          <a:prstGeom prst="rect">
            <a:avLst/>
          </a:prstGeom>
        </p:spPr>
      </p:pic>
      <p:sp>
        <p:nvSpPr>
          <p:cNvPr id="22" name="TextBox 21"/>
          <p:cNvSpPr txBox="1"/>
          <p:nvPr/>
        </p:nvSpPr>
        <p:spPr>
          <a:xfrm>
            <a:off x="523875" y="428625"/>
            <a:ext cx="11668125" cy="276999"/>
          </a:xfrm>
          <a:prstGeom prst="rect">
            <a:avLst/>
          </a:prstGeom>
          <a:noFill/>
        </p:spPr>
        <p:txBody>
          <a:bodyPr wrap="square" lIns="0" tIns="0" rIns="0" bIns="0" anchor="t">
            <a:spAutoFit/>
          </a:bodyPr>
          <a:lstStyle/>
          <a:p>
            <a:pPr algn="l"/>
            <a:r>
              <a:rPr b="1" i="0" u="none">
                <a:solidFill>
                  <a:srgbClr val="0F172A"/>
                </a:solidFill>
                <a:latin typeface="Plus Jakarta Sans"/>
              </a:rPr>
              <a:t>Analytical Findings &amp; Action Mapping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1066800"/>
            <a:ext cx="5495925" cy="1671637"/>
          </a:xfrm>
          <a:prstGeom prst="rect">
            <a:avLst/>
          </a:prstGeom>
        </p:spPr>
      </p:pic>
      <p:pic>
        <p:nvPicPr>
          <p:cNvPr id="4" name="Picture 3" descr="image.png"/>
          <p:cNvPicPr>
            <a:picLocks noChangeAspect="1"/>
          </p:cNvPicPr>
          <p:nvPr/>
        </p:nvPicPr>
        <p:blipFill>
          <a:blip r:embed="rId4"/>
          <a:stretch>
            <a:fillRect/>
          </a:stretch>
        </p:blipFill>
        <p:spPr>
          <a:xfrm>
            <a:off x="6172200" y="1066800"/>
            <a:ext cx="5495925" cy="1671637"/>
          </a:xfrm>
          <a:prstGeom prst="rect">
            <a:avLst/>
          </a:prstGeom>
        </p:spPr>
      </p:pic>
      <p:pic>
        <p:nvPicPr>
          <p:cNvPr id="5" name="Picture 4" descr="image.png"/>
          <p:cNvPicPr>
            <a:picLocks noChangeAspect="1"/>
          </p:cNvPicPr>
          <p:nvPr/>
        </p:nvPicPr>
        <p:blipFill>
          <a:blip r:embed="rId5"/>
          <a:stretch>
            <a:fillRect/>
          </a:stretch>
        </p:blipFill>
        <p:spPr>
          <a:xfrm>
            <a:off x="523875" y="2890837"/>
            <a:ext cx="5495925" cy="1671637"/>
          </a:xfrm>
          <a:prstGeom prst="rect">
            <a:avLst/>
          </a:prstGeom>
        </p:spPr>
      </p:pic>
      <p:pic>
        <p:nvPicPr>
          <p:cNvPr id="6" name="Picture 5" descr="image.png"/>
          <p:cNvPicPr>
            <a:picLocks noChangeAspect="1"/>
          </p:cNvPicPr>
          <p:nvPr/>
        </p:nvPicPr>
        <p:blipFill>
          <a:blip r:embed="rId5"/>
          <a:stretch>
            <a:fillRect/>
          </a:stretch>
        </p:blipFill>
        <p:spPr>
          <a:xfrm>
            <a:off x="6172200" y="2890837"/>
            <a:ext cx="5495925" cy="1671637"/>
          </a:xfrm>
          <a:prstGeom prst="rect">
            <a:avLst/>
          </a:prstGeom>
        </p:spPr>
      </p:pic>
      <p:pic>
        <p:nvPicPr>
          <p:cNvPr id="7" name="Picture 6" descr="image.png"/>
          <p:cNvPicPr>
            <a:picLocks noChangeAspect="1"/>
          </p:cNvPicPr>
          <p:nvPr/>
        </p:nvPicPr>
        <p:blipFill>
          <a:blip r:embed="rId6"/>
          <a:stretch>
            <a:fillRect/>
          </a:stretch>
        </p:blipFill>
        <p:spPr>
          <a:xfrm>
            <a:off x="523875" y="6400800"/>
            <a:ext cx="12192000" cy="285750"/>
          </a:xfrm>
          <a:prstGeom prst="rect">
            <a:avLst/>
          </a:prstGeom>
        </p:spPr>
      </p:pic>
      <p:sp>
        <p:nvSpPr>
          <p:cNvPr id="8" name="TextBox 7"/>
          <p:cNvSpPr txBox="1"/>
          <p:nvPr/>
        </p:nvSpPr>
        <p:spPr>
          <a:xfrm>
            <a:off x="523875" y="6524625"/>
            <a:ext cx="2886075" cy="161925"/>
          </a:xfrm>
          <a:prstGeom prst="rect">
            <a:avLst/>
          </a:prstGeom>
          <a:noFill/>
        </p:spPr>
        <p:txBody>
          <a:bodyPr wrap="square" lIns="0" tIns="0" rIns="0" bIns="0" anchor="t">
            <a:spAutoFit/>
          </a:bodyPr>
          <a:lstStyle/>
          <a:p>
            <a:pPr algn="l"/>
            <a:r>
              <a:rPr sz="1050" b="0" i="0" u="none">
                <a:solidFill>
                  <a:srgbClr val="64748B"/>
                </a:solidFill>
                <a:latin typeface="Inter Medium"/>
              </a:rPr>
              <a:t>Healthcare Admission &amp; Billing Cost Analysis</a:t>
            </a:r>
          </a:p>
        </p:txBody>
      </p:sp>
      <p:sp>
        <p:nvSpPr>
          <p:cNvPr id="9" name="TextBox 8"/>
          <p:cNvSpPr txBox="1"/>
          <p:nvPr/>
        </p:nvSpPr>
        <p:spPr>
          <a:xfrm>
            <a:off x="12211050" y="6524625"/>
            <a:ext cx="0" cy="161925"/>
          </a:xfrm>
          <a:prstGeom prst="rect">
            <a:avLst/>
          </a:prstGeom>
          <a:noFill/>
        </p:spPr>
        <p:txBody>
          <a:bodyPr wrap="square" lIns="0" tIns="0" rIns="0" bIns="0" anchor="t">
            <a:spAutoFit/>
          </a:bodyPr>
          <a:lstStyle/>
          <a:p>
            <a:pPr algn="l"/>
            <a:r>
              <a:rPr sz="1050" b="0" i="0" u="none">
                <a:solidFill>
                  <a:srgbClr val="64748B"/>
                </a:solidFill>
                <a:latin typeface="Inter Medium"/>
              </a:rPr>
              <a:t>Slide 13</a:t>
            </a:r>
          </a:p>
        </p:txBody>
      </p:sp>
      <p:sp>
        <p:nvSpPr>
          <p:cNvPr id="10" name="TextBox 9"/>
          <p:cNvSpPr txBox="1"/>
          <p:nvPr/>
        </p:nvSpPr>
        <p:spPr>
          <a:xfrm>
            <a:off x="1095375" y="1304925"/>
            <a:ext cx="4920615" cy="266700"/>
          </a:xfrm>
          <a:prstGeom prst="rect">
            <a:avLst/>
          </a:prstGeom>
          <a:noFill/>
        </p:spPr>
        <p:txBody>
          <a:bodyPr wrap="square" lIns="0" tIns="0" rIns="0" bIns="0" anchor="ctr">
            <a:spAutoFit/>
          </a:bodyPr>
          <a:lstStyle/>
          <a:p>
            <a:pPr algn="l"/>
            <a:r>
              <a:rPr sz="1650" b="1" i="0" u="none">
                <a:solidFill>
                  <a:srgbClr val="0F172A"/>
                </a:solidFill>
                <a:latin typeface="Plus Jakarta Sans"/>
              </a:rPr>
              <a:t>Hospital Administrators</a:t>
            </a:r>
          </a:p>
        </p:txBody>
      </p:sp>
      <p:sp>
        <p:nvSpPr>
          <p:cNvPr id="11" name="TextBox 10"/>
          <p:cNvSpPr txBox="1"/>
          <p:nvPr/>
        </p:nvSpPr>
        <p:spPr>
          <a:xfrm>
            <a:off x="762000" y="1685925"/>
            <a:ext cx="5019675" cy="814387"/>
          </a:xfrm>
          <a:prstGeom prst="rect">
            <a:avLst/>
          </a:prstGeom>
          <a:noFill/>
        </p:spPr>
        <p:txBody>
          <a:bodyPr wrap="square" lIns="0" tIns="0" rIns="0" bIns="0" anchor="t">
            <a:spAutoFit/>
          </a:bodyPr>
          <a:lstStyle/>
          <a:p>
            <a:pPr algn="l">
              <a:lnSpc>
                <a:spcPts val="2137"/>
              </a:lnSpc>
            </a:pPr>
            <a:r>
              <a:rPr sz="1425" b="0" i="0" u="none">
                <a:solidFill>
                  <a:srgbClr val="1E293B"/>
                </a:solidFill>
                <a:latin typeface="Inter"/>
              </a:rPr>
              <a:t>Pilot enhanced case management protocols specifically for urgent admissions, which demonstrate the highest average costs and longest hospital stays.</a:t>
            </a:r>
          </a:p>
        </p:txBody>
      </p:sp>
      <p:sp>
        <p:nvSpPr>
          <p:cNvPr id="12" name="TextBox 11"/>
          <p:cNvSpPr txBox="1"/>
          <p:nvPr/>
        </p:nvSpPr>
        <p:spPr>
          <a:xfrm>
            <a:off x="6667500" y="1304925"/>
            <a:ext cx="5000625" cy="266700"/>
          </a:xfrm>
          <a:prstGeom prst="rect">
            <a:avLst/>
          </a:prstGeom>
          <a:noFill/>
        </p:spPr>
        <p:txBody>
          <a:bodyPr wrap="square" lIns="0" tIns="0" rIns="0" bIns="0" anchor="ctr">
            <a:spAutoFit/>
          </a:bodyPr>
          <a:lstStyle/>
          <a:p>
            <a:pPr algn="l"/>
            <a:r>
              <a:rPr sz="1650" b="1" i="0" u="none">
                <a:solidFill>
                  <a:srgbClr val="0F172A"/>
                </a:solidFill>
                <a:latin typeface="Plus Jakarta Sans"/>
              </a:rPr>
              <a:t>Finance &amp; Cost Teams</a:t>
            </a:r>
          </a:p>
        </p:txBody>
      </p:sp>
      <p:sp>
        <p:nvSpPr>
          <p:cNvPr id="13" name="TextBox 12"/>
          <p:cNvSpPr txBox="1"/>
          <p:nvPr/>
        </p:nvSpPr>
        <p:spPr>
          <a:xfrm>
            <a:off x="6410325" y="1685925"/>
            <a:ext cx="5019675" cy="814387"/>
          </a:xfrm>
          <a:prstGeom prst="rect">
            <a:avLst/>
          </a:prstGeom>
          <a:noFill/>
        </p:spPr>
        <p:txBody>
          <a:bodyPr wrap="square" lIns="0" tIns="0" rIns="0" bIns="0" anchor="t">
            <a:spAutoFit/>
          </a:bodyPr>
          <a:lstStyle/>
          <a:p>
            <a:pPr algn="l">
              <a:lnSpc>
                <a:spcPts val="2137"/>
              </a:lnSpc>
            </a:pPr>
            <a:r>
              <a:rPr sz="1425" b="0" i="0" u="none">
                <a:solidFill>
                  <a:srgbClr val="1E293B"/>
                </a:solidFill>
                <a:latin typeface="Inter"/>
              </a:rPr>
              <a:t>Investigate condition-specific and procedure-level cost drivers deeply, recognizing that length of stay alone does not explain billing variation.</a:t>
            </a:r>
          </a:p>
        </p:txBody>
      </p:sp>
      <p:sp>
        <p:nvSpPr>
          <p:cNvPr id="14" name="TextBox 13"/>
          <p:cNvSpPr txBox="1"/>
          <p:nvPr/>
        </p:nvSpPr>
        <p:spPr>
          <a:xfrm>
            <a:off x="1066800" y="3128962"/>
            <a:ext cx="4950618" cy="266700"/>
          </a:xfrm>
          <a:prstGeom prst="rect">
            <a:avLst/>
          </a:prstGeom>
          <a:noFill/>
        </p:spPr>
        <p:txBody>
          <a:bodyPr wrap="square" lIns="0" tIns="0" rIns="0" bIns="0" anchor="ctr">
            <a:spAutoFit/>
          </a:bodyPr>
          <a:lstStyle/>
          <a:p>
            <a:pPr algn="l"/>
            <a:r>
              <a:rPr sz="1650" b="1" i="0" u="none">
                <a:solidFill>
                  <a:srgbClr val="0F172A"/>
                </a:solidFill>
                <a:latin typeface="Plus Jakarta Sans"/>
              </a:rPr>
              <a:t>Hospital Leadership</a:t>
            </a:r>
          </a:p>
        </p:txBody>
      </p:sp>
      <p:sp>
        <p:nvSpPr>
          <p:cNvPr id="15" name="TextBox 14"/>
          <p:cNvSpPr txBox="1"/>
          <p:nvPr/>
        </p:nvSpPr>
        <p:spPr>
          <a:xfrm>
            <a:off x="762000" y="3509962"/>
            <a:ext cx="5019675" cy="814387"/>
          </a:xfrm>
          <a:prstGeom prst="rect">
            <a:avLst/>
          </a:prstGeom>
          <a:noFill/>
        </p:spPr>
        <p:txBody>
          <a:bodyPr wrap="square" lIns="0" tIns="0" rIns="0" bIns="0" anchor="t">
            <a:spAutoFit/>
          </a:bodyPr>
          <a:lstStyle/>
          <a:p>
            <a:pPr algn="l">
              <a:lnSpc>
                <a:spcPts val="2137"/>
              </a:lnSpc>
            </a:pPr>
            <a:r>
              <a:rPr sz="1425" b="0" i="0" u="none">
                <a:solidFill>
                  <a:srgbClr val="1E293B"/>
                </a:solidFill>
                <a:latin typeface="Inter"/>
              </a:rPr>
              <a:t>Ross LLC leadership should review internal length-of-stay practices, while Davis Group leadership should review billing structures given gaps versus peers.</a:t>
            </a:r>
          </a:p>
        </p:txBody>
      </p:sp>
      <p:sp>
        <p:nvSpPr>
          <p:cNvPr id="16" name="TextBox 15"/>
          <p:cNvSpPr txBox="1"/>
          <p:nvPr/>
        </p:nvSpPr>
        <p:spPr>
          <a:xfrm>
            <a:off x="6715125" y="3128962"/>
            <a:ext cx="4950618" cy="266700"/>
          </a:xfrm>
          <a:prstGeom prst="rect">
            <a:avLst/>
          </a:prstGeom>
          <a:noFill/>
        </p:spPr>
        <p:txBody>
          <a:bodyPr wrap="square" lIns="0" tIns="0" rIns="0" bIns="0" anchor="ctr">
            <a:spAutoFit/>
          </a:bodyPr>
          <a:lstStyle/>
          <a:p>
            <a:pPr algn="l"/>
            <a:r>
              <a:rPr sz="1650" b="1" i="0" u="none">
                <a:solidFill>
                  <a:srgbClr val="0F172A"/>
                </a:solidFill>
                <a:latin typeface="Plus Jakarta Sans"/>
              </a:rPr>
              <a:t>Insurance Teams</a:t>
            </a:r>
          </a:p>
        </p:txBody>
      </p:sp>
      <p:sp>
        <p:nvSpPr>
          <p:cNvPr id="17" name="TextBox 16"/>
          <p:cNvSpPr txBox="1"/>
          <p:nvPr/>
        </p:nvSpPr>
        <p:spPr>
          <a:xfrm>
            <a:off x="6410325" y="3509962"/>
            <a:ext cx="5019675" cy="814387"/>
          </a:xfrm>
          <a:prstGeom prst="rect">
            <a:avLst/>
          </a:prstGeom>
          <a:noFill/>
        </p:spPr>
        <p:txBody>
          <a:bodyPr wrap="square" lIns="0" tIns="0" rIns="0" bIns="0" anchor="t">
            <a:spAutoFit/>
          </a:bodyPr>
          <a:lstStyle/>
          <a:p>
            <a:pPr algn="l">
              <a:lnSpc>
                <a:spcPts val="2137"/>
              </a:lnSpc>
            </a:pPr>
            <a:r>
              <a:rPr sz="1425" b="0" i="0" u="none">
                <a:solidFill>
                  <a:srgbClr val="1E293B"/>
                </a:solidFill>
                <a:latin typeface="Inter"/>
              </a:rPr>
              <a:t>Examine cost variations across providers (such as Blue Cross and Cigna) to better understand provider-specific risk exposure and pricing impacts.</a:t>
            </a:r>
          </a:p>
        </p:txBody>
      </p:sp>
      <p:pic>
        <p:nvPicPr>
          <p:cNvPr id="18" name="Picture 17" descr="image.png"/>
          <p:cNvPicPr>
            <a:picLocks noChangeAspect="1"/>
          </p:cNvPicPr>
          <p:nvPr/>
        </p:nvPicPr>
        <p:blipFill>
          <a:blip r:embed="rId7"/>
          <a:stretch>
            <a:fillRect/>
          </a:stretch>
        </p:blipFill>
        <p:spPr>
          <a:xfrm>
            <a:off x="762000" y="1333500"/>
            <a:ext cx="238125" cy="209550"/>
          </a:xfrm>
          <a:prstGeom prst="rect">
            <a:avLst/>
          </a:prstGeom>
        </p:spPr>
      </p:pic>
      <p:pic>
        <p:nvPicPr>
          <p:cNvPr id="19" name="Picture 18" descr="image.png"/>
          <p:cNvPicPr>
            <a:picLocks noChangeAspect="1"/>
          </p:cNvPicPr>
          <p:nvPr/>
        </p:nvPicPr>
        <p:blipFill>
          <a:blip r:embed="rId8"/>
          <a:stretch>
            <a:fillRect/>
          </a:stretch>
        </p:blipFill>
        <p:spPr>
          <a:xfrm>
            <a:off x="6410325" y="1333500"/>
            <a:ext cx="161925" cy="209550"/>
          </a:xfrm>
          <a:prstGeom prst="rect">
            <a:avLst/>
          </a:prstGeom>
        </p:spPr>
      </p:pic>
      <p:pic>
        <p:nvPicPr>
          <p:cNvPr id="20" name="Picture 19" descr="image.png"/>
          <p:cNvPicPr>
            <a:picLocks noChangeAspect="1"/>
          </p:cNvPicPr>
          <p:nvPr/>
        </p:nvPicPr>
        <p:blipFill>
          <a:blip r:embed="rId9"/>
          <a:stretch>
            <a:fillRect/>
          </a:stretch>
        </p:blipFill>
        <p:spPr>
          <a:xfrm>
            <a:off x="762000" y="3157537"/>
            <a:ext cx="209550" cy="209550"/>
          </a:xfrm>
          <a:prstGeom prst="rect">
            <a:avLst/>
          </a:prstGeom>
        </p:spPr>
      </p:pic>
      <p:pic>
        <p:nvPicPr>
          <p:cNvPr id="21" name="Picture 20" descr="image.png"/>
          <p:cNvPicPr>
            <a:picLocks noChangeAspect="1"/>
          </p:cNvPicPr>
          <p:nvPr/>
        </p:nvPicPr>
        <p:blipFill>
          <a:blip r:embed="rId10"/>
          <a:stretch>
            <a:fillRect/>
          </a:stretch>
        </p:blipFill>
        <p:spPr>
          <a:xfrm>
            <a:off x="6410325" y="3157537"/>
            <a:ext cx="209550" cy="209550"/>
          </a:xfrm>
          <a:prstGeom prst="rect">
            <a:avLst/>
          </a:prstGeom>
        </p:spPr>
      </p:pic>
      <p:sp>
        <p:nvSpPr>
          <p:cNvPr id="22" name="TextBox 21"/>
          <p:cNvSpPr txBox="1"/>
          <p:nvPr/>
        </p:nvSpPr>
        <p:spPr>
          <a:xfrm>
            <a:off x="523875" y="428625"/>
            <a:ext cx="11668125" cy="447675"/>
          </a:xfrm>
          <a:prstGeom prst="rect">
            <a:avLst/>
          </a:prstGeom>
          <a:noFill/>
        </p:spPr>
        <p:txBody>
          <a:bodyPr wrap="square" lIns="0" tIns="0" rIns="0" bIns="0" anchor="t">
            <a:spAutoFit/>
          </a:bodyPr>
          <a:lstStyle/>
          <a:p>
            <a:pPr algn="l"/>
            <a:r>
              <a:rPr sz="2850" b="1" i="0" u="none">
                <a:solidFill>
                  <a:srgbClr val="0F172A"/>
                </a:solidFill>
                <a:latin typeface="Plus Jakarta Sans"/>
              </a:rPr>
              <a:t>Tailored Stakeholder Recommendations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1066800"/>
            <a:ext cx="5429250" cy="3657600"/>
          </a:xfrm>
          <a:prstGeom prst="rect">
            <a:avLst/>
          </a:prstGeom>
        </p:spPr>
      </p:pic>
      <p:pic>
        <p:nvPicPr>
          <p:cNvPr id="4" name="Picture 3" descr="image.png"/>
          <p:cNvPicPr>
            <a:picLocks noChangeAspect="1"/>
          </p:cNvPicPr>
          <p:nvPr/>
        </p:nvPicPr>
        <p:blipFill>
          <a:blip r:embed="rId4"/>
          <a:stretch>
            <a:fillRect/>
          </a:stretch>
        </p:blipFill>
        <p:spPr>
          <a:xfrm>
            <a:off x="6238875" y="1066800"/>
            <a:ext cx="5429250" cy="3657600"/>
          </a:xfrm>
          <a:prstGeom prst="rect">
            <a:avLst/>
          </a:prstGeom>
        </p:spPr>
      </p:pic>
      <p:pic>
        <p:nvPicPr>
          <p:cNvPr id="5" name="Picture 4" descr="image.png"/>
          <p:cNvPicPr>
            <a:picLocks noChangeAspect="1"/>
          </p:cNvPicPr>
          <p:nvPr/>
        </p:nvPicPr>
        <p:blipFill>
          <a:blip r:embed="rId5"/>
          <a:stretch>
            <a:fillRect/>
          </a:stretch>
        </p:blipFill>
        <p:spPr>
          <a:xfrm>
            <a:off x="523875" y="6400800"/>
            <a:ext cx="12192000" cy="285750"/>
          </a:xfrm>
          <a:prstGeom prst="rect">
            <a:avLst/>
          </a:prstGeom>
        </p:spPr>
      </p:pic>
      <p:sp>
        <p:nvSpPr>
          <p:cNvPr id="6" name="TextBox 5"/>
          <p:cNvSpPr txBox="1"/>
          <p:nvPr/>
        </p:nvSpPr>
        <p:spPr>
          <a:xfrm>
            <a:off x="523875" y="6524625"/>
            <a:ext cx="2886075" cy="161925"/>
          </a:xfrm>
          <a:prstGeom prst="rect">
            <a:avLst/>
          </a:prstGeom>
          <a:noFill/>
        </p:spPr>
        <p:txBody>
          <a:bodyPr wrap="square" lIns="0" tIns="0" rIns="0" bIns="0" anchor="t">
            <a:spAutoFit/>
          </a:bodyPr>
          <a:lstStyle/>
          <a:p>
            <a:pPr algn="l"/>
            <a:r>
              <a:rPr sz="1050" b="0" i="0" u="none">
                <a:solidFill>
                  <a:srgbClr val="64748B"/>
                </a:solidFill>
                <a:latin typeface="Inter Medium"/>
              </a:rPr>
              <a:t>Healthcare Admission &amp; Billing Cost Analysis</a:t>
            </a:r>
          </a:p>
        </p:txBody>
      </p:sp>
      <p:sp>
        <p:nvSpPr>
          <p:cNvPr id="7" name="TextBox 6"/>
          <p:cNvSpPr txBox="1"/>
          <p:nvPr/>
        </p:nvSpPr>
        <p:spPr>
          <a:xfrm>
            <a:off x="12211050" y="6524625"/>
            <a:ext cx="0" cy="161925"/>
          </a:xfrm>
          <a:prstGeom prst="rect">
            <a:avLst/>
          </a:prstGeom>
          <a:noFill/>
        </p:spPr>
        <p:txBody>
          <a:bodyPr wrap="square" lIns="0" tIns="0" rIns="0" bIns="0" anchor="t">
            <a:spAutoFit/>
          </a:bodyPr>
          <a:lstStyle/>
          <a:p>
            <a:pPr algn="l"/>
            <a:r>
              <a:rPr sz="1050" b="0" i="0" u="none">
                <a:solidFill>
                  <a:srgbClr val="64748B"/>
                </a:solidFill>
                <a:latin typeface="Inter Medium"/>
              </a:rPr>
              <a:t>Slide 14</a:t>
            </a:r>
          </a:p>
        </p:txBody>
      </p:sp>
      <p:sp>
        <p:nvSpPr>
          <p:cNvPr id="8" name="TextBox 7"/>
          <p:cNvSpPr txBox="1"/>
          <p:nvPr/>
        </p:nvSpPr>
        <p:spPr>
          <a:xfrm>
            <a:off x="1066800" y="1343025"/>
            <a:ext cx="4880610" cy="266700"/>
          </a:xfrm>
          <a:prstGeom prst="rect">
            <a:avLst/>
          </a:prstGeom>
          <a:noFill/>
        </p:spPr>
        <p:txBody>
          <a:bodyPr wrap="square" lIns="0" tIns="0" rIns="0" bIns="0" anchor="ctr">
            <a:spAutoFit/>
          </a:bodyPr>
          <a:lstStyle/>
          <a:p>
            <a:pPr algn="l"/>
            <a:r>
              <a:rPr sz="1650" b="1" i="0" u="none">
                <a:solidFill>
                  <a:srgbClr val="0F172A"/>
                </a:solidFill>
                <a:latin typeface="Plus Jakarta Sans"/>
              </a:rPr>
              <a:t>Analytical Limitations</a:t>
            </a:r>
          </a:p>
        </p:txBody>
      </p:sp>
      <p:sp>
        <p:nvSpPr>
          <p:cNvPr id="9" name="TextBox 8"/>
          <p:cNvSpPr txBox="1"/>
          <p:nvPr/>
        </p:nvSpPr>
        <p:spPr>
          <a:xfrm>
            <a:off x="6781800" y="1343025"/>
            <a:ext cx="4880610" cy="266700"/>
          </a:xfrm>
          <a:prstGeom prst="rect">
            <a:avLst/>
          </a:prstGeom>
          <a:noFill/>
        </p:spPr>
        <p:txBody>
          <a:bodyPr wrap="square" lIns="0" tIns="0" rIns="0" bIns="0" anchor="ctr">
            <a:spAutoFit/>
          </a:bodyPr>
          <a:lstStyle/>
          <a:p>
            <a:pPr algn="l"/>
            <a:r>
              <a:rPr sz="1650" b="1" i="0" u="none">
                <a:solidFill>
                  <a:srgbClr val="0F172A"/>
                </a:solidFill>
                <a:latin typeface="Plus Jakarta Sans"/>
              </a:rPr>
              <a:t>Recommended Next Steps</a:t>
            </a:r>
          </a:p>
        </p:txBody>
      </p:sp>
      <p:pic>
        <p:nvPicPr>
          <p:cNvPr id="10" name="Picture 9" descr="image.png"/>
          <p:cNvPicPr>
            <a:picLocks noChangeAspect="1"/>
          </p:cNvPicPr>
          <p:nvPr/>
        </p:nvPicPr>
        <p:blipFill>
          <a:blip r:embed="rId6"/>
          <a:stretch>
            <a:fillRect/>
          </a:stretch>
        </p:blipFill>
        <p:spPr>
          <a:xfrm>
            <a:off x="762000" y="1371600"/>
            <a:ext cx="209550" cy="209550"/>
          </a:xfrm>
          <a:prstGeom prst="rect">
            <a:avLst/>
          </a:prstGeom>
        </p:spPr>
      </p:pic>
      <p:sp>
        <p:nvSpPr>
          <p:cNvPr id="11" name="TextBox 10"/>
          <p:cNvSpPr txBox="1"/>
          <p:nvPr/>
        </p:nvSpPr>
        <p:spPr>
          <a:xfrm>
            <a:off x="847725" y="1874043"/>
            <a:ext cx="104775" cy="276225"/>
          </a:xfrm>
          <a:prstGeom prst="rect">
            <a:avLst/>
          </a:prstGeom>
          <a:noFill/>
        </p:spPr>
        <p:txBody>
          <a:bodyPr wrap="square" lIns="0" tIns="0" rIns="0" bIns="0" anchor="t">
            <a:spAutoFit/>
          </a:bodyPr>
          <a:lstStyle/>
          <a:p>
            <a:pPr algn="l"/>
            <a:r>
              <a:rPr sz="1425" b="0" i="0" u="none">
                <a:solidFill>
                  <a:srgbClr val="1E293B"/>
                </a:solidFill>
                <a:latin typeface="Inter"/>
              </a:rPr>
              <a:t>•</a:t>
            </a:r>
          </a:p>
        </p:txBody>
      </p:sp>
      <p:sp>
        <p:nvSpPr>
          <p:cNvPr id="12" name="TextBox 11"/>
          <p:cNvSpPr txBox="1"/>
          <p:nvPr/>
        </p:nvSpPr>
        <p:spPr>
          <a:xfrm>
            <a:off x="952500" y="1876425"/>
            <a:ext cx="4762500" cy="271462"/>
          </a:xfrm>
          <a:prstGeom prst="rect">
            <a:avLst/>
          </a:prstGeom>
          <a:noFill/>
        </p:spPr>
        <p:txBody>
          <a:bodyPr wrap="square" lIns="104775" tIns="0" rIns="0" bIns="0" anchor="t">
            <a:spAutoFit/>
          </a:bodyPr>
          <a:lstStyle/>
          <a:p>
            <a:pPr algn="l">
              <a:lnSpc>
                <a:spcPts val="2137"/>
              </a:lnSpc>
            </a:pPr>
            <a:r>
              <a:rPr sz="1425" b="0" i="0" u="none">
                <a:solidFill>
                  <a:srgbClr val="1E293B"/>
                </a:solidFill>
                <a:latin typeface="Inter"/>
              </a:rPr>
              <a:t>Historical records restricted to Jan 2024 – Dec 2026</a:t>
            </a:r>
          </a:p>
        </p:txBody>
      </p:sp>
      <p:sp>
        <p:nvSpPr>
          <p:cNvPr id="13" name="TextBox 12"/>
          <p:cNvSpPr txBox="1"/>
          <p:nvPr/>
        </p:nvSpPr>
        <p:spPr>
          <a:xfrm>
            <a:off x="847725" y="2240756"/>
            <a:ext cx="104775" cy="276225"/>
          </a:xfrm>
          <a:prstGeom prst="rect">
            <a:avLst/>
          </a:prstGeom>
          <a:noFill/>
        </p:spPr>
        <p:txBody>
          <a:bodyPr wrap="square" lIns="0" tIns="0" rIns="0" bIns="0" anchor="t">
            <a:spAutoFit/>
          </a:bodyPr>
          <a:lstStyle/>
          <a:p>
            <a:pPr algn="l"/>
            <a:r>
              <a:rPr sz="1425" b="0" i="0" u="none">
                <a:solidFill>
                  <a:srgbClr val="1E293B"/>
                </a:solidFill>
                <a:latin typeface="Inter"/>
              </a:rPr>
              <a:t>•</a:t>
            </a:r>
          </a:p>
        </p:txBody>
      </p:sp>
      <p:sp>
        <p:nvSpPr>
          <p:cNvPr id="14" name="TextBox 13"/>
          <p:cNvSpPr txBox="1"/>
          <p:nvPr/>
        </p:nvSpPr>
        <p:spPr>
          <a:xfrm>
            <a:off x="952500" y="2243137"/>
            <a:ext cx="4762500" cy="542925"/>
          </a:xfrm>
          <a:prstGeom prst="rect">
            <a:avLst/>
          </a:prstGeom>
          <a:noFill/>
        </p:spPr>
        <p:txBody>
          <a:bodyPr wrap="square" lIns="104775" tIns="0" rIns="0" bIns="0" anchor="t">
            <a:spAutoFit/>
          </a:bodyPr>
          <a:lstStyle/>
          <a:p>
            <a:pPr algn="l">
              <a:lnSpc>
                <a:spcPts val="2137"/>
              </a:lnSpc>
            </a:pPr>
            <a:r>
              <a:rPr sz="1425" b="0" i="0" u="none">
                <a:solidFill>
                  <a:srgbClr val="1E293B"/>
                </a:solidFill>
                <a:latin typeface="Inter"/>
              </a:rPr>
              <a:t>Presence of "Unknown" category values post-cleansing</a:t>
            </a:r>
          </a:p>
        </p:txBody>
      </p:sp>
      <p:sp>
        <p:nvSpPr>
          <p:cNvPr id="15" name="TextBox 14"/>
          <p:cNvSpPr txBox="1"/>
          <p:nvPr/>
        </p:nvSpPr>
        <p:spPr>
          <a:xfrm>
            <a:off x="847725" y="2878931"/>
            <a:ext cx="104775" cy="276225"/>
          </a:xfrm>
          <a:prstGeom prst="rect">
            <a:avLst/>
          </a:prstGeom>
          <a:noFill/>
        </p:spPr>
        <p:txBody>
          <a:bodyPr wrap="square" lIns="0" tIns="0" rIns="0" bIns="0" anchor="t">
            <a:spAutoFit/>
          </a:bodyPr>
          <a:lstStyle/>
          <a:p>
            <a:pPr algn="l"/>
            <a:r>
              <a:rPr sz="1425" b="0" i="0" u="none">
                <a:solidFill>
                  <a:srgbClr val="1E293B"/>
                </a:solidFill>
                <a:latin typeface="Inter"/>
              </a:rPr>
              <a:t>•</a:t>
            </a:r>
          </a:p>
        </p:txBody>
      </p:sp>
      <p:sp>
        <p:nvSpPr>
          <p:cNvPr id="16" name="TextBox 15"/>
          <p:cNvSpPr txBox="1"/>
          <p:nvPr/>
        </p:nvSpPr>
        <p:spPr>
          <a:xfrm>
            <a:off x="952500" y="2881312"/>
            <a:ext cx="4762500" cy="542925"/>
          </a:xfrm>
          <a:prstGeom prst="rect">
            <a:avLst/>
          </a:prstGeom>
          <a:noFill/>
        </p:spPr>
        <p:txBody>
          <a:bodyPr wrap="square" lIns="104775" tIns="0" rIns="0" bIns="0" anchor="t">
            <a:spAutoFit/>
          </a:bodyPr>
          <a:lstStyle/>
          <a:p>
            <a:pPr algn="l">
              <a:lnSpc>
                <a:spcPts val="2137"/>
              </a:lnSpc>
            </a:pPr>
            <a:r>
              <a:rPr sz="1425" b="0" i="0" u="none">
                <a:solidFill>
                  <a:srgbClr val="1E293B"/>
                </a:solidFill>
                <a:latin typeface="Inter"/>
              </a:rPr>
              <a:t>Analysis identifies statistical associations rather than direct causation</a:t>
            </a:r>
          </a:p>
        </p:txBody>
      </p:sp>
      <p:sp>
        <p:nvSpPr>
          <p:cNvPr id="17" name="TextBox 16"/>
          <p:cNvSpPr txBox="1"/>
          <p:nvPr/>
        </p:nvSpPr>
        <p:spPr>
          <a:xfrm>
            <a:off x="847725" y="3517106"/>
            <a:ext cx="104775" cy="276225"/>
          </a:xfrm>
          <a:prstGeom prst="rect">
            <a:avLst/>
          </a:prstGeom>
          <a:noFill/>
        </p:spPr>
        <p:txBody>
          <a:bodyPr wrap="square" lIns="0" tIns="0" rIns="0" bIns="0" anchor="t">
            <a:spAutoFit/>
          </a:bodyPr>
          <a:lstStyle/>
          <a:p>
            <a:pPr algn="l"/>
            <a:r>
              <a:rPr sz="1425" b="0" i="0" u="none">
                <a:solidFill>
                  <a:srgbClr val="1E293B"/>
                </a:solidFill>
                <a:latin typeface="Inter"/>
              </a:rPr>
              <a:t>•</a:t>
            </a:r>
          </a:p>
        </p:txBody>
      </p:sp>
      <p:sp>
        <p:nvSpPr>
          <p:cNvPr id="18" name="TextBox 17"/>
          <p:cNvSpPr txBox="1"/>
          <p:nvPr/>
        </p:nvSpPr>
        <p:spPr>
          <a:xfrm>
            <a:off x="952500" y="3519487"/>
            <a:ext cx="4762500" cy="271462"/>
          </a:xfrm>
          <a:prstGeom prst="rect">
            <a:avLst/>
          </a:prstGeom>
          <a:noFill/>
        </p:spPr>
        <p:txBody>
          <a:bodyPr wrap="square" lIns="104775" tIns="0" rIns="0" bIns="0" anchor="t">
            <a:spAutoFit/>
          </a:bodyPr>
          <a:lstStyle/>
          <a:p>
            <a:pPr algn="l">
              <a:lnSpc>
                <a:spcPts val="2137"/>
              </a:lnSpc>
            </a:pPr>
            <a:r>
              <a:rPr sz="1425" b="0" i="0" u="none">
                <a:solidFill>
                  <a:srgbClr val="1E293B"/>
                </a:solidFill>
                <a:latin typeface="Inter"/>
              </a:rPr>
              <a:t>Exclusion of certain fine-grained clinical variables</a:t>
            </a:r>
          </a:p>
        </p:txBody>
      </p:sp>
      <p:pic>
        <p:nvPicPr>
          <p:cNvPr id="19" name="Picture 18" descr="image.png"/>
          <p:cNvPicPr>
            <a:picLocks noChangeAspect="1"/>
          </p:cNvPicPr>
          <p:nvPr/>
        </p:nvPicPr>
        <p:blipFill>
          <a:blip r:embed="rId7"/>
          <a:stretch>
            <a:fillRect/>
          </a:stretch>
        </p:blipFill>
        <p:spPr>
          <a:xfrm>
            <a:off x="6477000" y="1371600"/>
            <a:ext cx="209550" cy="209550"/>
          </a:xfrm>
          <a:prstGeom prst="rect">
            <a:avLst/>
          </a:prstGeom>
        </p:spPr>
      </p:pic>
      <p:sp>
        <p:nvSpPr>
          <p:cNvPr id="20" name="TextBox 19"/>
          <p:cNvSpPr txBox="1"/>
          <p:nvPr/>
        </p:nvSpPr>
        <p:spPr>
          <a:xfrm>
            <a:off x="6562725" y="1874043"/>
            <a:ext cx="104775" cy="276225"/>
          </a:xfrm>
          <a:prstGeom prst="rect">
            <a:avLst/>
          </a:prstGeom>
          <a:noFill/>
        </p:spPr>
        <p:txBody>
          <a:bodyPr wrap="square" lIns="0" tIns="0" rIns="0" bIns="0" anchor="t">
            <a:spAutoFit/>
          </a:bodyPr>
          <a:lstStyle/>
          <a:p>
            <a:pPr algn="l"/>
            <a:r>
              <a:rPr sz="1425" b="0" i="0" u="none">
                <a:solidFill>
                  <a:srgbClr val="1E293B"/>
                </a:solidFill>
                <a:latin typeface="Inter"/>
              </a:rPr>
              <a:t>•</a:t>
            </a:r>
          </a:p>
        </p:txBody>
      </p:sp>
      <p:sp>
        <p:nvSpPr>
          <p:cNvPr id="21" name="TextBox 20"/>
          <p:cNvSpPr txBox="1"/>
          <p:nvPr/>
        </p:nvSpPr>
        <p:spPr>
          <a:xfrm>
            <a:off x="6667500" y="1876425"/>
            <a:ext cx="4762500" cy="542925"/>
          </a:xfrm>
          <a:prstGeom prst="rect">
            <a:avLst/>
          </a:prstGeom>
          <a:noFill/>
        </p:spPr>
        <p:txBody>
          <a:bodyPr wrap="square" lIns="104775" tIns="0" rIns="0" bIns="0" anchor="t">
            <a:spAutoFit/>
          </a:bodyPr>
          <a:lstStyle/>
          <a:p>
            <a:pPr algn="l">
              <a:lnSpc>
                <a:spcPts val="2137"/>
              </a:lnSpc>
            </a:pPr>
            <a:r>
              <a:rPr sz="1425" b="0" i="0" u="none">
                <a:solidFill>
                  <a:srgbClr val="1E293B"/>
                </a:solidFill>
                <a:latin typeface="Inter"/>
              </a:rPr>
              <a:t>Incorporate more recent admission datasets for longitudinal tracking</a:t>
            </a:r>
          </a:p>
        </p:txBody>
      </p:sp>
      <p:sp>
        <p:nvSpPr>
          <p:cNvPr id="22" name="TextBox 21"/>
          <p:cNvSpPr txBox="1"/>
          <p:nvPr/>
        </p:nvSpPr>
        <p:spPr>
          <a:xfrm>
            <a:off x="6562725" y="2512218"/>
            <a:ext cx="104775" cy="276225"/>
          </a:xfrm>
          <a:prstGeom prst="rect">
            <a:avLst/>
          </a:prstGeom>
          <a:noFill/>
        </p:spPr>
        <p:txBody>
          <a:bodyPr wrap="square" lIns="0" tIns="0" rIns="0" bIns="0" anchor="t">
            <a:spAutoFit/>
          </a:bodyPr>
          <a:lstStyle/>
          <a:p>
            <a:pPr algn="l"/>
            <a:r>
              <a:rPr sz="1425" b="0" i="0" u="none">
                <a:solidFill>
                  <a:srgbClr val="1E293B"/>
                </a:solidFill>
                <a:latin typeface="Inter"/>
              </a:rPr>
              <a:t>•</a:t>
            </a:r>
          </a:p>
        </p:txBody>
      </p:sp>
      <p:sp>
        <p:nvSpPr>
          <p:cNvPr id="23" name="TextBox 22"/>
          <p:cNvSpPr txBox="1"/>
          <p:nvPr/>
        </p:nvSpPr>
        <p:spPr>
          <a:xfrm>
            <a:off x="6667500" y="2514600"/>
            <a:ext cx="4762500" cy="542925"/>
          </a:xfrm>
          <a:prstGeom prst="rect">
            <a:avLst/>
          </a:prstGeom>
          <a:noFill/>
        </p:spPr>
        <p:txBody>
          <a:bodyPr wrap="square" lIns="104775" tIns="0" rIns="0" bIns="0" anchor="t">
            <a:spAutoFit/>
          </a:bodyPr>
          <a:lstStyle/>
          <a:p>
            <a:pPr algn="l">
              <a:lnSpc>
                <a:spcPts val="2137"/>
              </a:lnSpc>
            </a:pPr>
            <a:r>
              <a:rPr sz="1425" b="0" i="0" u="none">
                <a:solidFill>
                  <a:srgbClr val="1E293B"/>
                </a:solidFill>
                <a:latin typeface="Inter"/>
              </a:rPr>
              <a:t>Deep-dive into procedure-level and physician-specific cost drivers</a:t>
            </a:r>
          </a:p>
        </p:txBody>
      </p:sp>
      <p:sp>
        <p:nvSpPr>
          <p:cNvPr id="24" name="TextBox 23"/>
          <p:cNvSpPr txBox="1"/>
          <p:nvPr/>
        </p:nvSpPr>
        <p:spPr>
          <a:xfrm>
            <a:off x="6562725" y="3150393"/>
            <a:ext cx="104775" cy="276225"/>
          </a:xfrm>
          <a:prstGeom prst="rect">
            <a:avLst/>
          </a:prstGeom>
          <a:noFill/>
        </p:spPr>
        <p:txBody>
          <a:bodyPr wrap="square" lIns="0" tIns="0" rIns="0" bIns="0" anchor="t">
            <a:spAutoFit/>
          </a:bodyPr>
          <a:lstStyle/>
          <a:p>
            <a:pPr algn="l"/>
            <a:r>
              <a:rPr sz="1425" b="0" i="0" u="none">
                <a:solidFill>
                  <a:srgbClr val="1E293B"/>
                </a:solidFill>
                <a:latin typeface="Inter"/>
              </a:rPr>
              <a:t>•</a:t>
            </a:r>
          </a:p>
        </p:txBody>
      </p:sp>
      <p:sp>
        <p:nvSpPr>
          <p:cNvPr id="25" name="TextBox 24"/>
          <p:cNvSpPr txBox="1"/>
          <p:nvPr/>
        </p:nvSpPr>
        <p:spPr>
          <a:xfrm>
            <a:off x="6667500" y="3152775"/>
            <a:ext cx="4762500" cy="542925"/>
          </a:xfrm>
          <a:prstGeom prst="rect">
            <a:avLst/>
          </a:prstGeom>
          <a:noFill/>
        </p:spPr>
        <p:txBody>
          <a:bodyPr wrap="square" lIns="104775" tIns="0" rIns="0" bIns="0" anchor="t">
            <a:spAutoFit/>
          </a:bodyPr>
          <a:lstStyle/>
          <a:p>
            <a:pPr algn="l">
              <a:lnSpc>
                <a:spcPts val="2137"/>
              </a:lnSpc>
            </a:pPr>
            <a:r>
              <a:rPr sz="1425" b="0" i="0" u="none">
                <a:solidFill>
                  <a:srgbClr val="1E293B"/>
                </a:solidFill>
                <a:latin typeface="Inter"/>
              </a:rPr>
              <a:t>Build predictive machine learning models for expected admission billing costs</a:t>
            </a:r>
          </a:p>
        </p:txBody>
      </p:sp>
      <p:sp>
        <p:nvSpPr>
          <p:cNvPr id="26" name="TextBox 25"/>
          <p:cNvSpPr txBox="1"/>
          <p:nvPr/>
        </p:nvSpPr>
        <p:spPr>
          <a:xfrm>
            <a:off x="6562725" y="3788568"/>
            <a:ext cx="104775" cy="276225"/>
          </a:xfrm>
          <a:prstGeom prst="rect">
            <a:avLst/>
          </a:prstGeom>
          <a:noFill/>
        </p:spPr>
        <p:txBody>
          <a:bodyPr wrap="square" lIns="0" tIns="0" rIns="0" bIns="0" anchor="t">
            <a:spAutoFit/>
          </a:bodyPr>
          <a:lstStyle/>
          <a:p>
            <a:pPr algn="l"/>
            <a:r>
              <a:rPr sz="1425" b="0" i="0" u="none">
                <a:solidFill>
                  <a:srgbClr val="1E293B"/>
                </a:solidFill>
                <a:latin typeface="Inter"/>
              </a:rPr>
              <a:t>•</a:t>
            </a:r>
          </a:p>
        </p:txBody>
      </p:sp>
      <p:sp>
        <p:nvSpPr>
          <p:cNvPr id="27" name="TextBox 26"/>
          <p:cNvSpPr txBox="1"/>
          <p:nvPr/>
        </p:nvSpPr>
        <p:spPr>
          <a:xfrm>
            <a:off x="6667500" y="3790950"/>
            <a:ext cx="4762500" cy="542925"/>
          </a:xfrm>
          <a:prstGeom prst="rect">
            <a:avLst/>
          </a:prstGeom>
          <a:noFill/>
        </p:spPr>
        <p:txBody>
          <a:bodyPr wrap="square" lIns="104775" tIns="0" rIns="0" bIns="0" anchor="t">
            <a:spAutoFit/>
          </a:bodyPr>
          <a:lstStyle/>
          <a:p>
            <a:pPr algn="l">
              <a:lnSpc>
                <a:spcPts val="2137"/>
              </a:lnSpc>
            </a:pPr>
            <a:r>
              <a:rPr sz="1425" b="0" i="0" u="none">
                <a:solidFill>
                  <a:srgbClr val="1E293B"/>
                </a:solidFill>
                <a:latin typeface="Inter"/>
              </a:rPr>
              <a:t>Validate hospital differences via A/B testing of care protocols</a:t>
            </a:r>
          </a:p>
        </p:txBody>
      </p:sp>
      <p:sp>
        <p:nvSpPr>
          <p:cNvPr id="28" name="TextBox 27"/>
          <p:cNvSpPr txBox="1"/>
          <p:nvPr/>
        </p:nvSpPr>
        <p:spPr>
          <a:xfrm>
            <a:off x="523875" y="428625"/>
            <a:ext cx="11668125" cy="447675"/>
          </a:xfrm>
          <a:prstGeom prst="rect">
            <a:avLst/>
          </a:prstGeom>
          <a:noFill/>
        </p:spPr>
        <p:txBody>
          <a:bodyPr wrap="square" lIns="0" tIns="0" rIns="0" bIns="0" anchor="t">
            <a:spAutoFit/>
          </a:bodyPr>
          <a:lstStyle/>
          <a:p>
            <a:pPr algn="l"/>
            <a:r>
              <a:rPr sz="2850" b="1" i="0" u="none">
                <a:solidFill>
                  <a:srgbClr val="0F172A"/>
                </a:solidFill>
                <a:latin typeface="Plus Jakarta Sans"/>
              </a:rPr>
              <a:t>Study Limitations &amp; Recommended Next Steps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1289179" y="3100603"/>
            <a:ext cx="10100989" cy="1885518"/>
          </a:xfrm>
          <a:prstGeom prst="rect">
            <a:avLst/>
          </a:prstGeom>
        </p:spPr>
      </p:pic>
      <p:pic>
        <p:nvPicPr>
          <p:cNvPr id="4" name="Picture 3" descr="image.png"/>
          <p:cNvPicPr>
            <a:picLocks noChangeAspect="1"/>
          </p:cNvPicPr>
          <p:nvPr/>
        </p:nvPicPr>
        <p:blipFill>
          <a:blip r:embed="rId4"/>
          <a:stretch>
            <a:fillRect/>
          </a:stretch>
        </p:blipFill>
        <p:spPr>
          <a:xfrm>
            <a:off x="523875" y="6400800"/>
            <a:ext cx="12192000" cy="285750"/>
          </a:xfrm>
          <a:prstGeom prst="rect">
            <a:avLst/>
          </a:prstGeom>
        </p:spPr>
      </p:pic>
      <p:sp>
        <p:nvSpPr>
          <p:cNvPr id="5" name="TextBox 4"/>
          <p:cNvSpPr txBox="1"/>
          <p:nvPr/>
        </p:nvSpPr>
        <p:spPr>
          <a:xfrm>
            <a:off x="2995612" y="2700337"/>
            <a:ext cx="6200775" cy="285750"/>
          </a:xfrm>
          <a:prstGeom prst="rect">
            <a:avLst/>
          </a:prstGeom>
          <a:noFill/>
        </p:spPr>
        <p:txBody>
          <a:bodyPr wrap="square" lIns="0" tIns="0" rIns="0" bIns="0" anchor="t">
            <a:spAutoFit/>
          </a:bodyPr>
          <a:lstStyle/>
          <a:p>
            <a:pPr algn="ctr">
              <a:lnSpc>
                <a:spcPts val="2250"/>
              </a:lnSpc>
            </a:pPr>
            <a:r>
              <a:rPr sz="1500" b="0" i="0" u="none">
                <a:solidFill>
                  <a:srgbClr val="334155"/>
                </a:solidFill>
                <a:latin typeface="Inter Medium"/>
              </a:rPr>
              <a:t>We open the floor for questions, feedback, and strategic discussion.</a:t>
            </a:r>
          </a:p>
        </p:txBody>
      </p:sp>
      <p:sp>
        <p:nvSpPr>
          <p:cNvPr id="6" name="TextBox 5"/>
          <p:cNvSpPr txBox="1"/>
          <p:nvPr/>
        </p:nvSpPr>
        <p:spPr>
          <a:xfrm>
            <a:off x="523875" y="6524625"/>
            <a:ext cx="4371975" cy="161925"/>
          </a:xfrm>
          <a:prstGeom prst="rect">
            <a:avLst/>
          </a:prstGeom>
          <a:noFill/>
        </p:spPr>
        <p:txBody>
          <a:bodyPr wrap="square" lIns="0" tIns="0" rIns="0" bIns="0" anchor="t">
            <a:spAutoFit/>
          </a:bodyPr>
          <a:lstStyle/>
          <a:p>
            <a:pPr algn="l"/>
            <a:r>
              <a:rPr sz="1050" b="0" i="0" u="none">
                <a:solidFill>
                  <a:srgbClr val="64748B"/>
                </a:solidFill>
                <a:latin typeface="Inter Medium"/>
              </a:rPr>
              <a:t>AuratTech Data Analyst Track | Maryam Asif, Dua Fatima, Eshaal Atif</a:t>
            </a:r>
          </a:p>
        </p:txBody>
      </p:sp>
      <p:sp>
        <p:nvSpPr>
          <p:cNvPr id="7" name="TextBox 6"/>
          <p:cNvSpPr txBox="1"/>
          <p:nvPr/>
        </p:nvSpPr>
        <p:spPr>
          <a:xfrm>
            <a:off x="12220575" y="6524625"/>
            <a:ext cx="0" cy="161925"/>
          </a:xfrm>
          <a:prstGeom prst="rect">
            <a:avLst/>
          </a:prstGeom>
          <a:noFill/>
        </p:spPr>
        <p:txBody>
          <a:bodyPr wrap="square" lIns="0" tIns="0" rIns="0" bIns="0" anchor="t">
            <a:spAutoFit/>
          </a:bodyPr>
          <a:lstStyle/>
          <a:p>
            <a:pPr algn="l"/>
            <a:r>
              <a:rPr sz="1050" b="0" i="0" u="none">
                <a:solidFill>
                  <a:srgbClr val="64748B"/>
                </a:solidFill>
                <a:latin typeface="Inter Medium"/>
              </a:rPr>
              <a:t>Slide 15</a:t>
            </a:r>
          </a:p>
        </p:txBody>
      </p:sp>
      <p:pic>
        <p:nvPicPr>
          <p:cNvPr id="8" name="Picture 7" descr="image.png"/>
          <p:cNvPicPr>
            <a:picLocks noChangeAspect="1"/>
          </p:cNvPicPr>
          <p:nvPr/>
        </p:nvPicPr>
        <p:blipFill>
          <a:blip r:embed="rId5"/>
          <a:stretch>
            <a:fillRect/>
          </a:stretch>
        </p:blipFill>
        <p:spPr>
          <a:xfrm>
            <a:off x="2124075" y="3433762"/>
            <a:ext cx="266700" cy="228600"/>
          </a:xfrm>
          <a:prstGeom prst="rect">
            <a:avLst/>
          </a:prstGeom>
        </p:spPr>
      </p:pic>
      <p:sp>
        <p:nvSpPr>
          <p:cNvPr id="9" name="TextBox 8"/>
          <p:cNvSpPr txBox="1"/>
          <p:nvPr/>
        </p:nvSpPr>
        <p:spPr>
          <a:xfrm>
            <a:off x="2447059" y="3448050"/>
            <a:ext cx="6229350" cy="196208"/>
          </a:xfrm>
          <a:prstGeom prst="rect">
            <a:avLst/>
          </a:prstGeom>
          <a:noFill/>
        </p:spPr>
        <p:txBody>
          <a:bodyPr wrap="square" lIns="0" tIns="0" rIns="0" bIns="0" anchor="t">
            <a:spAutoFit/>
          </a:bodyPr>
          <a:lstStyle/>
          <a:p>
            <a:pPr algn="l"/>
            <a:r>
              <a:rPr sz="1275" b="1" i="0" u="none" dirty="0">
                <a:solidFill>
                  <a:srgbClr val="000000"/>
                </a:solidFill>
                <a:latin typeface="Inter"/>
              </a:rPr>
              <a:t>GitHub Repository:</a:t>
            </a:r>
            <a:r>
              <a:rPr sz="1275" b="0" i="0" u="none" dirty="0">
                <a:solidFill>
                  <a:srgbClr val="000000"/>
                </a:solidFill>
                <a:latin typeface="Inter"/>
              </a:rPr>
              <a:t> </a:t>
            </a:r>
            <a:r>
              <a:rPr lang="en-US" sz="1275" b="1" i="0" u="none" dirty="0">
                <a:solidFill>
                  <a:srgbClr val="000000"/>
                </a:solidFill>
                <a:latin typeface="Inter SemiBold"/>
              </a:rPr>
              <a:t>https://github.com/eshaal22/Healthcare-Admission-Billing-Cost-Analysis</a:t>
            </a:r>
            <a:endParaRPr sz="1275" b="1" i="0" u="none" dirty="0">
              <a:solidFill>
                <a:srgbClr val="0284C7"/>
              </a:solidFill>
              <a:latin typeface="Inter SemiBold"/>
            </a:endParaRPr>
          </a:p>
        </p:txBody>
      </p:sp>
      <p:pic>
        <p:nvPicPr>
          <p:cNvPr id="10" name="Picture 9" descr="image.png"/>
          <p:cNvPicPr>
            <a:picLocks noChangeAspect="1"/>
          </p:cNvPicPr>
          <p:nvPr/>
        </p:nvPicPr>
        <p:blipFill>
          <a:blip r:embed="rId6"/>
          <a:stretch>
            <a:fillRect/>
          </a:stretch>
        </p:blipFill>
        <p:spPr>
          <a:xfrm>
            <a:off x="2124075" y="3814762"/>
            <a:ext cx="266700" cy="228600"/>
          </a:xfrm>
          <a:prstGeom prst="rect">
            <a:avLst/>
          </a:prstGeom>
        </p:spPr>
      </p:pic>
      <p:sp>
        <p:nvSpPr>
          <p:cNvPr id="11" name="TextBox 10"/>
          <p:cNvSpPr txBox="1"/>
          <p:nvPr/>
        </p:nvSpPr>
        <p:spPr>
          <a:xfrm>
            <a:off x="2524125" y="3795712"/>
            <a:ext cx="4276725" cy="762000"/>
          </a:xfrm>
          <a:prstGeom prst="rect">
            <a:avLst/>
          </a:prstGeom>
          <a:noFill/>
        </p:spPr>
        <p:txBody>
          <a:bodyPr wrap="square" lIns="0" tIns="0" rIns="0" bIns="0" anchor="t">
            <a:spAutoFit/>
          </a:bodyPr>
          <a:lstStyle/>
          <a:p>
            <a:pPr algn="l"/>
            <a:r>
              <a:rPr sz="1275" b="1" i="0" u="none" dirty="0">
                <a:solidFill>
                  <a:srgbClr val="000000"/>
                </a:solidFill>
                <a:latin typeface="Inter"/>
              </a:rPr>
              <a:t>Team LinkedIn Profiles:</a:t>
            </a:r>
            <a:r>
              <a:rPr dirty="0"/>
              <a:t>
</a:t>
            </a:r>
            <a:r>
              <a:rPr sz="1275" b="0" i="0" u="none" dirty="0">
                <a:solidFill>
                  <a:srgbClr val="000000"/>
                </a:solidFill>
                <a:latin typeface="Inter"/>
              </a:rPr>
              <a:t> Maryam Asif: </a:t>
            </a:r>
            <a:r>
              <a:rPr sz="1275" b="0" i="0" u="none" dirty="0">
                <a:solidFill>
                  <a:srgbClr val="0284C7"/>
                </a:solidFill>
                <a:latin typeface="Inter SemiBold"/>
              </a:rPr>
              <a:t>linkedin.com/in/maryam-asif-b43164424</a:t>
            </a:r>
            <a:r>
              <a:rPr dirty="0"/>
              <a:t>
</a:t>
            </a:r>
            <a:r>
              <a:rPr sz="1275" b="0" i="0" u="none" dirty="0">
                <a:solidFill>
                  <a:srgbClr val="000000"/>
                </a:solidFill>
                <a:latin typeface="Inter"/>
              </a:rPr>
              <a:t> Eshaal Atif: </a:t>
            </a:r>
            <a:r>
              <a:rPr sz="1275" b="0" i="0" u="none" dirty="0">
                <a:solidFill>
                  <a:srgbClr val="0284C7"/>
                </a:solidFill>
                <a:latin typeface="Inter SemiBold"/>
              </a:rPr>
              <a:t>linkedin.com/in/eshaal-atif-48a9b12b6</a:t>
            </a:r>
            <a:r>
              <a:rPr dirty="0"/>
              <a:t>
</a:t>
            </a:r>
            <a:r>
              <a:rPr sz="1275" b="0" i="0" u="none" dirty="0">
                <a:solidFill>
                  <a:srgbClr val="000000"/>
                </a:solidFill>
                <a:latin typeface="Inter"/>
              </a:rPr>
              <a:t> Dua Fatima: </a:t>
            </a:r>
            <a:r>
              <a:rPr sz="1275" b="0" i="0" u="none" dirty="0">
                <a:solidFill>
                  <a:srgbClr val="0284C7"/>
                </a:solidFill>
                <a:latin typeface="Inter SemiBold"/>
              </a:rPr>
              <a:t>linkedin.com/in/dua-fatimah-df17</a:t>
            </a:r>
          </a:p>
        </p:txBody>
      </p:sp>
      <p:sp>
        <p:nvSpPr>
          <p:cNvPr id="12" name="TextBox 11"/>
          <p:cNvSpPr txBox="1"/>
          <p:nvPr/>
        </p:nvSpPr>
        <p:spPr>
          <a:xfrm>
            <a:off x="523875" y="428625"/>
            <a:ext cx="11668125" cy="447675"/>
          </a:xfrm>
          <a:prstGeom prst="rect">
            <a:avLst/>
          </a:prstGeom>
          <a:noFill/>
        </p:spPr>
        <p:txBody>
          <a:bodyPr wrap="square" lIns="0" tIns="0" rIns="0" bIns="0" anchor="t">
            <a:spAutoFit/>
          </a:bodyPr>
          <a:lstStyle/>
          <a:p>
            <a:pPr algn="l"/>
            <a:r>
              <a:rPr sz="2850" b="1" i="0" u="none">
                <a:solidFill>
                  <a:srgbClr val="0F172A"/>
                </a:solidFill>
                <a:latin typeface="Plus Jakarta Sans"/>
              </a:rPr>
              <a:t>Thank You — 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821</TotalTime>
  <Words>1102</Words>
  <Application>Microsoft Office PowerPoint</Application>
  <PresentationFormat>Widescreen</PresentationFormat>
  <Paragraphs>152</Paragraphs>
  <Slides>15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Inter</vt:lpstr>
      <vt:lpstr>Inter Black</vt:lpstr>
      <vt:lpstr>Inter Medium</vt:lpstr>
      <vt:lpstr>Inter SemiBold</vt:lpstr>
      <vt:lpstr>Plus Jakarta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eshaal atif</cp:lastModifiedBy>
  <cp:revision>5</cp:revision>
  <dcterms:created xsi:type="dcterms:W3CDTF">2013-01-27T09:14:16Z</dcterms:created>
  <dcterms:modified xsi:type="dcterms:W3CDTF">2026-09-12T08:56:09Z</dcterms:modified>
  <cp:category/>
</cp:coreProperties>
</file>